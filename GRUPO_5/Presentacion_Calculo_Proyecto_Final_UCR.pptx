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207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Notas del orador: Buenos días/tardes. Presentamos nuestro informe final de proyecto aplicado para el curso MA-0321 Cálculo de la Universidad de Costa Rica, Sede Regional del Sur. El objetivo es resolver un dilema real de la industria de software actual: cómo utilizar el cálculo diferencial para optimizar la infraestructura de servidores en la nube y determinar con rigor matemático cuántos usuarios simultáneos maximizan la rentabilidad antes de que los costos por saturación arruinen el negocio.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esta diapositiva contextualizamos el problema. En aplicaciones modernas en la nube, los costos no crecen en línea recta. Cuando miles de usuarios acceden al mismo tiempo, la base de datos sufre contención de bloqueos (lock contention), se requiere replicación, balanceo de carga y mayor soporte. Subdimensionar destruye el servicio por caídas, pero sobredimensionar o atender usuarios más allá del óptimo incurre en la ley de rendimientos decrecientes.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análisis está dirigido al perfil FinOps (Cloud Financial Operations). Las dos preguntas que sustentan la investigación son: Primero, ¿cuál es el volumen exacto de usuarios que produce la ganancia máxima? Y segundo, ¿cuándo conviene migrar de plan? Veremos que la respuesta económica ocurre mucho antes de que el servidor colapse físicamente.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Aquí repasamos los conceptos matemáticos aplicados. En microeconomía y cálculo, el punto de máxima utilidad ocurre cuando el ingreso marginal es igual al costo marginal. El criterio de la segunda derivada garantiza que el punto crítico es un máximo estricto gracias a la concavidad hacia abajo. Además, el límite al infinito formaliza que ninguna arquitectura puede escalar indefinidamente sin cambiar de hardware o topología.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diapositiva muestra la deducción formal paso a paso. Definimos la función cuadrática de costo, calculamos la utilidad marginal igualando a cero, y despejamos x* = (p - c) / 2k. El análisis formal de la segunda derivada da -2k, que por definición de k&gt;0 es estrictamente negativo, demostrando que se trata de un máximo global irrefutable.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esta diapositiva presentamos los valores numéricos correspondientes al caso base de la Infraestructura Intermedia: un costo fijo de $3,000, costo variable de $8 por usuario, tarifa de $50 y un factor cuadrático de 0.02. A partir de estos valores construimos las funciones numéricas que resolveremos a continuación.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resultados numéricos revelan una conclusión contraintuitiva pero fundamental en la ingeniería de software: más usuarios no siempre significan más dinero. A los 1,050 usuarios alcanzamos la ganancia máxima de $19,050. Si llenamos el servidor al máximo físico de 1,500 usuarios, la ganancia cae en $4,050 debido a los costos de sobrecarga y contención. Además, determinamos los puntos de equilibrio en 75 y 2026 usuarios.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este gráfico podemos observar visualmente el comportamiento de las tres curvas. El ingreso total es la línea celeste recta. El costo total es la curva roja que se dispara hacia arriba. La distancia vertical entre ambas es la curva verde de utilidad. Se aprecia claramente el punto crítico en 1,050 usuarios, donde la pendiente de la tangente es cero (U'=0). A la derecha de 1,050, la pendiente se vuelve negativa.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Comparamos aquí tres escenarios de infraestructura: Básica, Intermedia y Ampliada. A medida que se invierte en mayor infraestructura fija, el costo fijo sube de $1k a $15k, pero el costo marginal y el factor de fricción cuadrática k se reducen drásticamente de 0.1 a 0.002. Esto desplaza el óptimo hacia la derecha, permitiendo atender a más de 11,000 usuarios y generar más de $230,000 de utilidad.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proyecto no se quedó solo en el papel matemático; fue programado en Python 3.10. Utilizamos SymPy para el cálculo formal de derivadas simbólicas, NumPy y Matplotlib para la computación numérica y el trazado de curvas, y Tkinter para diseñar una interfaz gráfica amigable. Finalmente, se empaquetó en un ejecutable independiente llamado 'proyecto2.exe' para que cualquier tomador de decisiones de la empresa pueda usarlo sin tener instalado Python.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conclusión, respondemos de forma concluyente a las dos preguntas de investigación. Primera: La capacidad óptima de la infraestructura intermedia es 1,050 usuarios con $19,050 de ganancia. Segunda: La migración a la infraestructura ampliada debe realizarse obligatoriamente al superar los 1,500 usuarios por límite físico, pero estratégicamente desde los 900 a 1,050 usuarios por eficiencia económica FinOps.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esto concluimos la presentación. Agradecemos al profesor Francisco y a los compañeros de la Universidad de Costa Rica por su atención. Quedamos a su entera disposición para responder cualquier pregunta sobre el modelo matemático o la implementación.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731520"/>
            <a:ext cx="5303520" cy="4572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latin typeface="Segoe UI"/>
              </a:defRPr>
            </a:pPr>
            <a:r>
              <a:t> UNIVERSIDAD DE COSTA RICA  |  SEDE REGIONAL DEL SUR</a:t>
            </a:r>
          </a:p>
        </p:txBody>
      </p:sp>
      <p:sp>
        <p:nvSpPr>
          <p:cNvPr id="4" name="TextBox 3"/>
          <p:cNvSpPr txBox="1"/>
          <p:nvPr/>
        </p:nvSpPr>
        <p:spPr>
          <a:xfrm>
            <a:off x="731520" y="1371600"/>
            <a:ext cx="10698480" cy="1246495"/>
          </a:xfrm>
          <a:prstGeom prst="rect">
            <a:avLst/>
          </a:prstGeom>
          <a:noFill/>
        </p:spPr>
        <p:txBody>
          <a:bodyPr wrap="square" lIns="0" tIns="0">
            <a:spAutoFit/>
          </a:bodyPr>
          <a:lstStyle/>
          <a:p>
            <a:pPr>
              <a:defRPr sz="3200" b="1">
                <a:solidFill>
                  <a:srgbClr val="F8FAFC"/>
                </a:solidFill>
                <a:latin typeface="Segoe UI"/>
              </a:defRPr>
            </a:pPr>
            <a:r>
              <a:rPr dirty="0" err="1"/>
              <a:t>Optimización</a:t>
            </a:r>
            <a:r>
              <a:rPr dirty="0"/>
              <a:t> de </a:t>
            </a:r>
            <a:r>
              <a:rPr dirty="0" err="1"/>
              <a:t>Infraestructura</a:t>
            </a:r>
            <a:r>
              <a:rPr dirty="0"/>
              <a:t> </a:t>
            </a:r>
          </a:p>
          <a:p>
            <a:pPr>
              <a:spcBef>
                <a:spcPts val="800"/>
              </a:spcBef>
              <a:defRPr sz="1800">
                <a:solidFill>
                  <a:srgbClr val="FBBF24"/>
                </a:solidFill>
                <a:latin typeface="Segoe UI"/>
              </a:defRPr>
            </a:pPr>
            <a:r>
              <a:rPr dirty="0" err="1"/>
              <a:t>Modelado</a:t>
            </a:r>
            <a:r>
              <a:rPr dirty="0"/>
              <a:t> de </a:t>
            </a:r>
            <a:r>
              <a:rPr dirty="0" err="1"/>
              <a:t>Concurrencia</a:t>
            </a:r>
            <a:r>
              <a:rPr dirty="0"/>
              <a:t> de </a:t>
            </a:r>
            <a:r>
              <a:rPr dirty="0" err="1"/>
              <a:t>Usuarios</a:t>
            </a:r>
            <a:r>
              <a:rPr dirty="0"/>
              <a:t> y </a:t>
            </a:r>
            <a:r>
              <a:rPr dirty="0" err="1"/>
              <a:t>Rentabilidad</a:t>
            </a:r>
            <a:r>
              <a:rPr dirty="0"/>
              <a:t> Mediante </a:t>
            </a:r>
            <a:r>
              <a:rPr dirty="0" err="1"/>
              <a:t>Cálculo</a:t>
            </a:r>
            <a:r>
              <a:rPr dirty="0"/>
              <a:t> </a:t>
            </a:r>
            <a:r>
              <a:rPr dirty="0" err="1"/>
              <a:t>Diferencial</a:t>
            </a:r>
            <a:endParaRPr dirty="0"/>
          </a:p>
          <a:p>
            <a:pPr>
              <a:spcBef>
                <a:spcPts val="1000"/>
              </a:spcBef>
              <a:defRPr sz="1300" b="1">
                <a:solidFill>
                  <a:srgbClr val="94A3B8"/>
                </a:solidFill>
                <a:latin typeface="Segoe UI"/>
              </a:defRPr>
            </a:pPr>
            <a:r>
              <a:rPr dirty="0"/>
              <a:t>INFORME FINAL DE PROYECTO APLICADO  •  MA-0321 CÁLCULO</a:t>
            </a:r>
          </a:p>
        </p:txBody>
      </p:sp>
      <p:sp>
        <p:nvSpPr>
          <p:cNvPr id="5" name="Rounded Rectangle 4"/>
          <p:cNvSpPr/>
          <p:nvPr/>
        </p:nvSpPr>
        <p:spPr>
          <a:xfrm>
            <a:off x="731520" y="3840480"/>
            <a:ext cx="329184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8BDF8"/>
                </a:solidFill>
                <a:latin typeface="Segoe UI"/>
              </a:defRPr>
            </a:pPr>
            <a:r>
              <a:rPr dirty="0"/>
              <a:t>INTEGRANTES</a:t>
            </a:r>
          </a:p>
          <a:p>
            <a:pPr>
              <a:spcBef>
                <a:spcPts val="1000"/>
              </a:spcBef>
              <a:defRPr sz="1300">
                <a:solidFill>
                  <a:srgbClr val="F8FAFC"/>
                </a:solidFill>
              </a:defRPr>
            </a:pPr>
            <a:r>
              <a:rPr dirty="0"/>
              <a:t>• Isaac Vega (C38346)</a:t>
            </a:r>
          </a:p>
          <a:p>
            <a:pPr>
              <a:spcBef>
                <a:spcPts val="600"/>
              </a:spcBef>
              <a:defRPr sz="1300">
                <a:solidFill>
                  <a:srgbClr val="F8FAFC"/>
                </a:solidFill>
              </a:defRPr>
            </a:pPr>
            <a:r>
              <a:rPr dirty="0"/>
              <a:t>• Junior</a:t>
            </a:r>
            <a:r>
              <a:rPr lang="es-CR" dirty="0"/>
              <a:t> Jiménez C34090</a:t>
            </a:r>
            <a:endParaRPr dirty="0"/>
          </a:p>
        </p:txBody>
      </p:sp>
      <p:sp>
        <p:nvSpPr>
          <p:cNvPr id="6" name="Rounded Rectangle 5"/>
          <p:cNvSpPr/>
          <p:nvPr/>
        </p:nvSpPr>
        <p:spPr>
          <a:xfrm>
            <a:off x="4389120" y="3840480"/>
            <a:ext cx="329184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4D399"/>
                </a:solidFill>
                <a:latin typeface="Segoe UI"/>
              </a:defRPr>
            </a:pPr>
            <a:r>
              <a:t>DOCENCIA &amp; CURSO</a:t>
            </a:r>
          </a:p>
          <a:p>
            <a:pPr>
              <a:spcBef>
                <a:spcPts val="1000"/>
              </a:spcBef>
              <a:defRPr sz="1300">
                <a:solidFill>
                  <a:srgbClr val="F8FAFC"/>
                </a:solidFill>
              </a:defRPr>
            </a:pPr>
            <a:r>
              <a:t>Docente: Francisco</a:t>
            </a:r>
          </a:p>
          <a:p>
            <a:pPr>
              <a:spcBef>
                <a:spcPts val="600"/>
              </a:spcBef>
              <a:defRPr sz="1200">
                <a:solidFill>
                  <a:srgbClr val="94A3B8"/>
                </a:solidFill>
              </a:defRPr>
            </a:pPr>
            <a:r>
              <a:t>MA-0321 Cálculo Diferencial</a:t>
            </a:r>
          </a:p>
        </p:txBody>
      </p:sp>
      <p:sp>
        <p:nvSpPr>
          <p:cNvPr id="7" name="Rounded Rectangle 6"/>
          <p:cNvSpPr/>
          <p:nvPr/>
        </p:nvSpPr>
        <p:spPr>
          <a:xfrm>
            <a:off x="8046720" y="3840480"/>
            <a:ext cx="33832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BBF24"/>
                </a:solidFill>
                <a:latin typeface="Segoe UI"/>
              </a:defRPr>
            </a:pPr>
            <a:r>
              <a:t>SEDE &amp; FECHA</a:t>
            </a:r>
          </a:p>
          <a:p>
            <a:pPr>
              <a:spcBef>
                <a:spcPts val="1000"/>
              </a:spcBef>
              <a:defRPr sz="1300">
                <a:solidFill>
                  <a:srgbClr val="F8FAFC"/>
                </a:solidFill>
              </a:defRPr>
            </a:pPr>
            <a:r>
              <a:t>25 de Septiembre del 2026</a:t>
            </a:r>
          </a:p>
          <a:p>
            <a:pPr>
              <a:spcBef>
                <a:spcPts val="600"/>
              </a:spcBef>
              <a:defRPr sz="1200">
                <a:solidFill>
                  <a:srgbClr val="94A3B8"/>
                </a:solidFill>
              </a:defRPr>
            </a:pPr>
            <a:r>
              <a:t>Sede Regional del Sur, UCR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1. INTRODUCCIÓN Y JUSTIFICACIÓN</a:t>
            </a:r>
          </a:p>
        </p:txBody>
      </p:sp>
      <p:sp>
        <p:nvSpPr>
          <p:cNvPr id="4" name="TextBox 3"/>
          <p:cNvSpPr txBox="1"/>
          <p:nvPr/>
        </p:nvSpPr>
        <p:spPr>
          <a:xfrm>
            <a:off x="731520" y="685800"/>
            <a:ext cx="10698480" cy="338554"/>
          </a:xfrm>
          <a:prstGeom prst="rect">
            <a:avLst/>
          </a:prstGeom>
          <a:noFill/>
        </p:spPr>
        <p:txBody>
          <a:bodyPr wrap="square" lIns="0" tIns="0" rIns="0" bIns="0">
            <a:spAutoFit/>
          </a:bodyPr>
          <a:lstStyle/>
          <a:p>
            <a:pPr>
              <a:defRPr sz="2200" b="1">
                <a:solidFill>
                  <a:srgbClr val="F8FAFC"/>
                </a:solidFill>
                <a:latin typeface="Segoe UI"/>
              </a:defRPr>
            </a:pPr>
            <a:r>
              <a:rPr dirty="0"/>
              <a:t>El </a:t>
            </a:r>
            <a:r>
              <a:rPr dirty="0" err="1"/>
              <a:t>Dilema</a:t>
            </a:r>
            <a:r>
              <a:rPr dirty="0"/>
              <a:t> Económico-</a:t>
            </a:r>
            <a:r>
              <a:rPr dirty="0" err="1"/>
              <a:t>Operativo</a:t>
            </a:r>
            <a:r>
              <a:rPr dirty="0"/>
              <a:t> </a:t>
            </a:r>
            <a:r>
              <a:rPr dirty="0" err="1"/>
              <a:t>en</a:t>
            </a:r>
            <a:r>
              <a:rPr dirty="0"/>
              <a:t> </a:t>
            </a:r>
            <a:r>
              <a:rPr dirty="0" err="1"/>
              <a:t>Plataformas</a:t>
            </a:r>
            <a:endParaRPr dirty="0"/>
          </a:p>
        </p:txBody>
      </p:sp>
      <p:sp>
        <p:nvSpPr>
          <p:cNvPr id="5" name="Rounded Rectangle 4"/>
          <p:cNvSpPr/>
          <p:nvPr/>
        </p:nvSpPr>
        <p:spPr>
          <a:xfrm>
            <a:off x="731520" y="1463040"/>
            <a:ext cx="5120640" cy="48463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38BDF8"/>
                </a:solidFill>
              </a:defRPr>
            </a:pPr>
            <a:r>
              <a:rPr dirty="0"/>
              <a:t>CONTEXTO DE LA ECONOMÍA DIGITAL</a:t>
            </a:r>
          </a:p>
          <a:p>
            <a:pPr>
              <a:spcBef>
                <a:spcPts val="800"/>
              </a:spcBef>
              <a:defRPr sz="1150" b="1">
                <a:solidFill>
                  <a:srgbClr val="F8FAFC"/>
                </a:solidFill>
              </a:defRPr>
            </a:pPr>
            <a:r>
              <a:rPr sz="1400" dirty="0"/>
              <a:t>• </a:t>
            </a:r>
            <a:r>
              <a:rPr sz="1400" dirty="0" err="1"/>
              <a:t>Servicios</a:t>
            </a:r>
            <a:r>
              <a:rPr sz="1400" dirty="0"/>
              <a:t> de Alta </a:t>
            </a:r>
            <a:r>
              <a:rPr sz="1400" dirty="0" err="1"/>
              <a:t>Concurrencia</a:t>
            </a:r>
            <a:r>
              <a:rPr sz="1400" dirty="0"/>
              <a:t>:</a:t>
            </a:r>
            <a:r>
              <a:rPr sz="1400" b="0" dirty="0">
                <a:solidFill>
                  <a:srgbClr val="CBD5E1"/>
                </a:solidFill>
              </a:rPr>
              <a:t> </a:t>
            </a:r>
            <a:r>
              <a:rPr sz="1400" b="0" dirty="0" err="1">
                <a:solidFill>
                  <a:srgbClr val="CBD5E1"/>
                </a:solidFill>
              </a:rPr>
              <a:t>Plataformas</a:t>
            </a:r>
            <a:r>
              <a:rPr sz="1400" b="0" dirty="0">
                <a:solidFill>
                  <a:srgbClr val="CBD5E1"/>
                </a:solidFill>
              </a:rPr>
              <a:t> de Streaming, E-Commerce, Fintech y EdTech </a:t>
            </a:r>
            <a:r>
              <a:rPr sz="1400" b="0" dirty="0" err="1">
                <a:solidFill>
                  <a:srgbClr val="CBD5E1"/>
                </a:solidFill>
              </a:rPr>
              <a:t>operan</a:t>
            </a:r>
            <a:r>
              <a:rPr sz="1400" b="0" dirty="0">
                <a:solidFill>
                  <a:srgbClr val="CBD5E1"/>
                </a:solidFill>
              </a:rPr>
              <a:t> con miles de </a:t>
            </a:r>
            <a:r>
              <a:rPr sz="1400" b="0" dirty="0" err="1">
                <a:solidFill>
                  <a:srgbClr val="CBD5E1"/>
                </a:solidFill>
              </a:rPr>
              <a:t>sesiones</a:t>
            </a:r>
            <a:r>
              <a:rPr sz="1400" b="0" dirty="0">
                <a:solidFill>
                  <a:srgbClr val="CBD5E1"/>
                </a:solidFill>
              </a:rPr>
              <a:t> </a:t>
            </a:r>
            <a:r>
              <a:rPr sz="1400" b="0" dirty="0" err="1">
                <a:solidFill>
                  <a:srgbClr val="CBD5E1"/>
                </a:solidFill>
              </a:rPr>
              <a:t>en</a:t>
            </a:r>
            <a:r>
              <a:rPr sz="1400" b="0" dirty="0">
                <a:solidFill>
                  <a:srgbClr val="CBD5E1"/>
                </a:solidFill>
              </a:rPr>
              <a:t> </a:t>
            </a:r>
            <a:r>
              <a:rPr sz="1400" b="0" dirty="0" err="1">
                <a:solidFill>
                  <a:srgbClr val="CBD5E1"/>
                </a:solidFill>
              </a:rPr>
              <a:t>tiempo</a:t>
            </a:r>
            <a:r>
              <a:rPr sz="1400" b="0" dirty="0">
                <a:solidFill>
                  <a:srgbClr val="CBD5E1"/>
                </a:solidFill>
              </a:rPr>
              <a:t> real.</a:t>
            </a:r>
          </a:p>
          <a:p>
            <a:pPr>
              <a:spcBef>
                <a:spcPts val="800"/>
              </a:spcBef>
              <a:defRPr sz="1150" b="1">
                <a:solidFill>
                  <a:srgbClr val="F8FAFC"/>
                </a:solidFill>
              </a:defRPr>
            </a:pPr>
            <a:r>
              <a:rPr sz="1400" dirty="0"/>
              <a:t>• </a:t>
            </a:r>
            <a:r>
              <a:rPr sz="1400" dirty="0" err="1"/>
              <a:t>Relación</a:t>
            </a:r>
            <a:r>
              <a:rPr sz="1400" dirty="0"/>
              <a:t> No-Lineal de Costos:</a:t>
            </a:r>
            <a:r>
              <a:rPr sz="1400" b="0" dirty="0">
                <a:solidFill>
                  <a:srgbClr val="CBD5E1"/>
                </a:solidFill>
              </a:rPr>
              <a:t> Más </a:t>
            </a:r>
            <a:r>
              <a:rPr sz="1400" b="0" dirty="0" err="1">
                <a:solidFill>
                  <a:srgbClr val="CBD5E1"/>
                </a:solidFill>
              </a:rPr>
              <a:t>usuarios</a:t>
            </a:r>
            <a:r>
              <a:rPr sz="1400" b="0" dirty="0">
                <a:solidFill>
                  <a:srgbClr val="CBD5E1"/>
                </a:solidFill>
              </a:rPr>
              <a:t> NO </a:t>
            </a:r>
            <a:r>
              <a:rPr sz="1400" b="0" dirty="0" err="1">
                <a:solidFill>
                  <a:srgbClr val="CBD5E1"/>
                </a:solidFill>
              </a:rPr>
              <a:t>representan</a:t>
            </a:r>
            <a:r>
              <a:rPr sz="1400" b="0" dirty="0">
                <a:solidFill>
                  <a:srgbClr val="CBD5E1"/>
                </a:solidFill>
              </a:rPr>
              <a:t> </a:t>
            </a:r>
            <a:r>
              <a:rPr sz="1400" b="0" dirty="0" err="1">
                <a:solidFill>
                  <a:srgbClr val="CBD5E1"/>
                </a:solidFill>
              </a:rPr>
              <a:t>simplemente</a:t>
            </a:r>
            <a:r>
              <a:rPr sz="1400" b="0" dirty="0">
                <a:solidFill>
                  <a:srgbClr val="CBD5E1"/>
                </a:solidFill>
              </a:rPr>
              <a:t> </a:t>
            </a:r>
            <a:r>
              <a:rPr sz="1400" b="0" dirty="0" err="1">
                <a:solidFill>
                  <a:srgbClr val="CBD5E1"/>
                </a:solidFill>
              </a:rPr>
              <a:t>más</a:t>
            </a:r>
            <a:r>
              <a:rPr sz="1400" b="0" dirty="0">
                <a:solidFill>
                  <a:srgbClr val="CBD5E1"/>
                </a:solidFill>
              </a:rPr>
              <a:t> </a:t>
            </a:r>
            <a:r>
              <a:rPr sz="1400" b="0" dirty="0" err="1">
                <a:solidFill>
                  <a:srgbClr val="CBD5E1"/>
                </a:solidFill>
              </a:rPr>
              <a:t>ingresos</a:t>
            </a:r>
            <a:r>
              <a:rPr sz="1400" b="0" dirty="0">
                <a:solidFill>
                  <a:srgbClr val="CBD5E1"/>
                </a:solidFill>
              </a:rPr>
              <a:t>. Los </a:t>
            </a:r>
            <a:r>
              <a:rPr sz="1400" b="0" dirty="0" err="1">
                <a:solidFill>
                  <a:srgbClr val="CBD5E1"/>
                </a:solidFill>
              </a:rPr>
              <a:t>costos</a:t>
            </a:r>
            <a:r>
              <a:rPr sz="1400" b="0" dirty="0">
                <a:solidFill>
                  <a:srgbClr val="CBD5E1"/>
                </a:solidFill>
              </a:rPr>
              <a:t> </a:t>
            </a:r>
            <a:r>
              <a:rPr sz="1400" b="0" dirty="0" err="1">
                <a:solidFill>
                  <a:srgbClr val="CBD5E1"/>
                </a:solidFill>
              </a:rPr>
              <a:t>operativos</a:t>
            </a:r>
            <a:r>
              <a:rPr sz="1400" b="0" dirty="0">
                <a:solidFill>
                  <a:srgbClr val="CBD5E1"/>
                </a:solidFill>
              </a:rPr>
              <a:t> </a:t>
            </a:r>
            <a:r>
              <a:rPr sz="1400" b="0" dirty="0" err="1">
                <a:solidFill>
                  <a:srgbClr val="CBD5E1"/>
                </a:solidFill>
              </a:rPr>
              <a:t>crecen</a:t>
            </a:r>
            <a:r>
              <a:rPr sz="1400" b="0" dirty="0">
                <a:solidFill>
                  <a:srgbClr val="CBD5E1"/>
                </a:solidFill>
              </a:rPr>
              <a:t> </a:t>
            </a:r>
            <a:r>
              <a:rPr sz="1400" b="0" dirty="0" err="1">
                <a:solidFill>
                  <a:srgbClr val="CBD5E1"/>
                </a:solidFill>
              </a:rPr>
              <a:t>aceleradamente</a:t>
            </a:r>
            <a:r>
              <a:rPr sz="1400" b="0" dirty="0">
                <a:solidFill>
                  <a:srgbClr val="CBD5E1"/>
                </a:solidFill>
              </a:rPr>
              <a:t> </a:t>
            </a:r>
            <a:r>
              <a:rPr sz="1400" b="0" dirty="0" err="1">
                <a:solidFill>
                  <a:srgbClr val="CBD5E1"/>
                </a:solidFill>
              </a:rPr>
              <a:t>debido</a:t>
            </a:r>
            <a:r>
              <a:rPr sz="1400" b="0" dirty="0">
                <a:solidFill>
                  <a:srgbClr val="CBD5E1"/>
                </a:solidFill>
              </a:rPr>
              <a:t> a la </a:t>
            </a:r>
            <a:r>
              <a:rPr sz="1400" b="0" dirty="0" err="1">
                <a:solidFill>
                  <a:srgbClr val="CBD5E1"/>
                </a:solidFill>
              </a:rPr>
              <a:t>complejidad</a:t>
            </a:r>
            <a:r>
              <a:rPr sz="1400" b="0" dirty="0">
                <a:solidFill>
                  <a:srgbClr val="CBD5E1"/>
                </a:solidFill>
              </a:rPr>
              <a:t> </a:t>
            </a:r>
            <a:r>
              <a:rPr sz="1400" b="0" dirty="0" err="1">
                <a:solidFill>
                  <a:srgbClr val="CBD5E1"/>
                </a:solidFill>
              </a:rPr>
              <a:t>distribuida</a:t>
            </a:r>
            <a:r>
              <a:rPr sz="1400" b="0" dirty="0">
                <a:solidFill>
                  <a:srgbClr val="CBD5E1"/>
                </a:solidFill>
              </a:rPr>
              <a:t>.</a:t>
            </a:r>
          </a:p>
          <a:p>
            <a:pPr>
              <a:spcBef>
                <a:spcPts val="800"/>
              </a:spcBef>
              <a:defRPr sz="1150" b="1">
                <a:solidFill>
                  <a:srgbClr val="F8FAFC"/>
                </a:solidFill>
              </a:defRPr>
            </a:pPr>
            <a:r>
              <a:rPr sz="1400" dirty="0"/>
              <a:t>• Fuentes </a:t>
            </a:r>
            <a:r>
              <a:rPr sz="1400" dirty="0" err="1"/>
              <a:t>Ocultas</a:t>
            </a:r>
            <a:r>
              <a:rPr sz="1400" dirty="0"/>
              <a:t> de </a:t>
            </a:r>
            <a:r>
              <a:rPr sz="1400" dirty="0" err="1"/>
              <a:t>Saturación</a:t>
            </a:r>
            <a:r>
              <a:rPr sz="1400" dirty="0"/>
              <a:t>:</a:t>
            </a:r>
            <a:r>
              <a:rPr sz="1400" b="0" dirty="0">
                <a:solidFill>
                  <a:srgbClr val="CBD5E1"/>
                </a:solidFill>
              </a:rPr>
              <a:t> El </a:t>
            </a:r>
            <a:r>
              <a:rPr sz="1400" b="0" dirty="0" err="1">
                <a:solidFill>
                  <a:srgbClr val="CBD5E1"/>
                </a:solidFill>
              </a:rPr>
              <a:t>costo</a:t>
            </a:r>
            <a:r>
              <a:rPr sz="1400" b="0" dirty="0">
                <a:solidFill>
                  <a:srgbClr val="CBD5E1"/>
                </a:solidFill>
              </a:rPr>
              <a:t> no es solo </a:t>
            </a:r>
            <a:r>
              <a:rPr sz="1400" b="0" dirty="0" err="1">
                <a:solidFill>
                  <a:srgbClr val="CBD5E1"/>
                </a:solidFill>
              </a:rPr>
              <a:t>cómputo</a:t>
            </a:r>
            <a:r>
              <a:rPr sz="1400" b="0" dirty="0">
                <a:solidFill>
                  <a:srgbClr val="CBD5E1"/>
                </a:solidFill>
              </a:rPr>
              <a:t> (CPU/RAM). </a:t>
            </a:r>
            <a:r>
              <a:rPr sz="1400" b="0" dirty="0" err="1">
                <a:solidFill>
                  <a:srgbClr val="CBD5E1"/>
                </a:solidFill>
              </a:rPr>
              <a:t>Involucra</a:t>
            </a:r>
            <a:r>
              <a:rPr sz="1400" b="0" dirty="0">
                <a:solidFill>
                  <a:srgbClr val="CBD5E1"/>
                </a:solidFill>
              </a:rPr>
              <a:t> </a:t>
            </a:r>
            <a:r>
              <a:rPr sz="1400" b="0" dirty="0" err="1">
                <a:solidFill>
                  <a:srgbClr val="CBD5E1"/>
                </a:solidFill>
              </a:rPr>
              <a:t>contención</a:t>
            </a:r>
            <a:r>
              <a:rPr sz="1400" b="0" dirty="0">
                <a:solidFill>
                  <a:srgbClr val="CBD5E1"/>
                </a:solidFill>
              </a:rPr>
              <a:t> </a:t>
            </a:r>
            <a:r>
              <a:rPr sz="1400" b="0" dirty="0" err="1">
                <a:solidFill>
                  <a:srgbClr val="CBD5E1"/>
                </a:solidFill>
              </a:rPr>
              <a:t>en</a:t>
            </a:r>
            <a:r>
              <a:rPr sz="1400" b="0" dirty="0">
                <a:solidFill>
                  <a:srgbClr val="CBD5E1"/>
                </a:solidFill>
              </a:rPr>
              <a:t> bases de </a:t>
            </a:r>
            <a:r>
              <a:rPr sz="1400" b="0" dirty="0" err="1">
                <a:solidFill>
                  <a:srgbClr val="CBD5E1"/>
                </a:solidFill>
              </a:rPr>
              <a:t>datos</a:t>
            </a:r>
            <a:r>
              <a:rPr sz="1400" b="0" dirty="0">
                <a:solidFill>
                  <a:srgbClr val="CBD5E1"/>
                </a:solidFill>
              </a:rPr>
              <a:t>, ancho de </a:t>
            </a:r>
            <a:r>
              <a:rPr sz="1400" b="0" dirty="0" err="1">
                <a:solidFill>
                  <a:srgbClr val="CBD5E1"/>
                </a:solidFill>
              </a:rPr>
              <a:t>banda</a:t>
            </a:r>
            <a:r>
              <a:rPr sz="1400" b="0" dirty="0">
                <a:solidFill>
                  <a:srgbClr val="CBD5E1"/>
                </a:solidFill>
              </a:rPr>
              <a:t>, </a:t>
            </a:r>
            <a:r>
              <a:rPr sz="1400" b="0" dirty="0" err="1">
                <a:solidFill>
                  <a:srgbClr val="CBD5E1"/>
                </a:solidFill>
              </a:rPr>
              <a:t>almacenamiento</a:t>
            </a:r>
            <a:r>
              <a:rPr sz="1400" b="0" dirty="0">
                <a:solidFill>
                  <a:srgbClr val="CBD5E1"/>
                </a:solidFill>
              </a:rPr>
              <a:t> </a:t>
            </a:r>
            <a:r>
              <a:rPr sz="1400" b="0" dirty="0" err="1">
                <a:solidFill>
                  <a:srgbClr val="CBD5E1"/>
                </a:solidFill>
              </a:rPr>
              <a:t>distribuido</a:t>
            </a:r>
            <a:r>
              <a:rPr sz="1400" b="0" dirty="0">
                <a:solidFill>
                  <a:srgbClr val="CBD5E1"/>
                </a:solidFill>
              </a:rPr>
              <a:t> y </a:t>
            </a:r>
            <a:r>
              <a:rPr sz="1400" b="0" dirty="0" err="1">
                <a:solidFill>
                  <a:srgbClr val="CBD5E1"/>
                </a:solidFill>
              </a:rPr>
              <a:t>balanceadores</a:t>
            </a:r>
            <a:r>
              <a:rPr sz="1400" b="0" dirty="0">
                <a:solidFill>
                  <a:srgbClr val="CBD5E1"/>
                </a:solidFill>
              </a:rPr>
              <a:t>.</a:t>
            </a:r>
          </a:p>
          <a:p>
            <a:pPr>
              <a:spcBef>
                <a:spcPts val="800"/>
              </a:spcBef>
              <a:defRPr sz="1150" b="1">
                <a:solidFill>
                  <a:srgbClr val="F8FAFC"/>
                </a:solidFill>
              </a:defRPr>
            </a:pPr>
            <a:r>
              <a:rPr sz="1400" dirty="0"/>
              <a:t>• </a:t>
            </a:r>
            <a:r>
              <a:rPr sz="1400" dirty="0" err="1"/>
              <a:t>Degradación</a:t>
            </a:r>
            <a:r>
              <a:rPr sz="1400" dirty="0"/>
              <a:t> del Servicio (SLA):</a:t>
            </a:r>
            <a:r>
              <a:rPr sz="1400" b="0" dirty="0">
                <a:solidFill>
                  <a:srgbClr val="CBD5E1"/>
                </a:solidFill>
              </a:rPr>
              <a:t> </a:t>
            </a:r>
            <a:r>
              <a:rPr sz="1400" b="0" dirty="0" err="1">
                <a:solidFill>
                  <a:srgbClr val="CBD5E1"/>
                </a:solidFill>
              </a:rPr>
              <a:t>Superar</a:t>
            </a:r>
            <a:r>
              <a:rPr sz="1400" b="0" dirty="0">
                <a:solidFill>
                  <a:srgbClr val="CBD5E1"/>
                </a:solidFill>
              </a:rPr>
              <a:t> </a:t>
            </a:r>
            <a:r>
              <a:rPr sz="1400" b="0" dirty="0" err="1">
                <a:solidFill>
                  <a:srgbClr val="CBD5E1"/>
                </a:solidFill>
              </a:rPr>
              <a:t>los</a:t>
            </a:r>
            <a:r>
              <a:rPr sz="1400" b="0" dirty="0">
                <a:solidFill>
                  <a:srgbClr val="CBD5E1"/>
                </a:solidFill>
              </a:rPr>
              <a:t> </a:t>
            </a:r>
            <a:r>
              <a:rPr sz="1400" b="0" dirty="0" err="1">
                <a:solidFill>
                  <a:srgbClr val="CBD5E1"/>
                </a:solidFill>
              </a:rPr>
              <a:t>límites</a:t>
            </a:r>
            <a:r>
              <a:rPr sz="1400" b="0" dirty="0">
                <a:solidFill>
                  <a:srgbClr val="CBD5E1"/>
                </a:solidFill>
              </a:rPr>
              <a:t> </a:t>
            </a:r>
            <a:r>
              <a:rPr sz="1400" b="0" dirty="0" err="1">
                <a:solidFill>
                  <a:srgbClr val="CBD5E1"/>
                </a:solidFill>
              </a:rPr>
              <a:t>óptimos</a:t>
            </a:r>
            <a:r>
              <a:rPr sz="1400" b="0" dirty="0">
                <a:solidFill>
                  <a:srgbClr val="CBD5E1"/>
                </a:solidFill>
              </a:rPr>
              <a:t> </a:t>
            </a:r>
            <a:r>
              <a:rPr sz="1400" b="0" dirty="0" err="1">
                <a:solidFill>
                  <a:srgbClr val="CBD5E1"/>
                </a:solidFill>
              </a:rPr>
              <a:t>provoca</a:t>
            </a:r>
            <a:r>
              <a:rPr sz="1400" b="0" dirty="0">
                <a:solidFill>
                  <a:srgbClr val="CBD5E1"/>
                </a:solidFill>
              </a:rPr>
              <a:t> </a:t>
            </a:r>
            <a:r>
              <a:rPr sz="1400" b="0" dirty="0" err="1">
                <a:solidFill>
                  <a:srgbClr val="CBD5E1"/>
                </a:solidFill>
              </a:rPr>
              <a:t>latencia</a:t>
            </a:r>
            <a:r>
              <a:rPr sz="1400" b="0" dirty="0">
                <a:solidFill>
                  <a:srgbClr val="CBD5E1"/>
                </a:solidFill>
              </a:rPr>
              <a:t>, </a:t>
            </a:r>
            <a:r>
              <a:rPr sz="1400" b="0" dirty="0" err="1">
                <a:solidFill>
                  <a:srgbClr val="CBD5E1"/>
                </a:solidFill>
              </a:rPr>
              <a:t>caídas</a:t>
            </a:r>
            <a:r>
              <a:rPr sz="1400" b="0" dirty="0">
                <a:solidFill>
                  <a:srgbClr val="CBD5E1"/>
                </a:solidFill>
              </a:rPr>
              <a:t> y </a:t>
            </a:r>
            <a:r>
              <a:rPr sz="1400" b="0" dirty="0" err="1">
                <a:solidFill>
                  <a:srgbClr val="CBD5E1"/>
                </a:solidFill>
              </a:rPr>
              <a:t>penalizaciones</a:t>
            </a:r>
            <a:r>
              <a:rPr sz="1400" b="0" dirty="0">
                <a:solidFill>
                  <a:srgbClr val="CBD5E1"/>
                </a:solidFill>
              </a:rPr>
              <a:t> </a:t>
            </a:r>
            <a:r>
              <a:rPr sz="1400" b="0" dirty="0" err="1">
                <a:solidFill>
                  <a:srgbClr val="CBD5E1"/>
                </a:solidFill>
              </a:rPr>
              <a:t>contractuales</a:t>
            </a:r>
            <a:r>
              <a:rPr sz="1400" b="0" dirty="0">
                <a:solidFill>
                  <a:srgbClr val="CBD5E1"/>
                </a:solidFill>
              </a:rPr>
              <a:t> </a:t>
            </a:r>
            <a:r>
              <a:rPr sz="1400" b="0" dirty="0" err="1">
                <a:solidFill>
                  <a:srgbClr val="CBD5E1"/>
                </a:solidFill>
              </a:rPr>
              <a:t>severas</a:t>
            </a:r>
            <a:r>
              <a:rPr sz="1400" b="0" dirty="0">
                <a:solidFill>
                  <a:srgbClr val="CBD5E1"/>
                </a:solidFill>
              </a:rPr>
              <a:t>.</a:t>
            </a:r>
          </a:p>
        </p:txBody>
      </p:sp>
      <p:sp>
        <p:nvSpPr>
          <p:cNvPr id="6" name="Rounded Rectangle 5"/>
          <p:cNvSpPr/>
          <p:nvPr/>
        </p:nvSpPr>
        <p:spPr>
          <a:xfrm>
            <a:off x="6217920" y="1463040"/>
            <a:ext cx="5212080" cy="2286000"/>
          </a:xfrm>
          <a:prstGeom prst="roundRect">
            <a:avLst/>
          </a:prstGeom>
          <a:solidFill>
            <a:srgbClr val="1E293B"/>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87171"/>
                </a:solidFill>
              </a:defRPr>
            </a:pPr>
            <a:r>
              <a:rPr sz="1200" dirty="0"/>
              <a:t>RIESGO 1: SUBDIMENSIONAR LA INFRAESTRUCTURA</a:t>
            </a:r>
          </a:p>
          <a:p>
            <a:pPr>
              <a:spcBef>
                <a:spcPts val="400"/>
              </a:spcBef>
              <a:defRPr sz="1100">
                <a:solidFill>
                  <a:srgbClr val="CBD5E1"/>
                </a:solidFill>
              </a:defRPr>
            </a:pPr>
            <a:r>
              <a:rPr sz="1400" dirty="0"/>
              <a:t>⚠️ </a:t>
            </a:r>
            <a:r>
              <a:rPr sz="1400" dirty="0" err="1"/>
              <a:t>Saturación</a:t>
            </a:r>
            <a:r>
              <a:rPr sz="1400" dirty="0"/>
              <a:t> de memoria y </a:t>
            </a:r>
            <a:r>
              <a:rPr sz="1400" dirty="0" err="1"/>
              <a:t>colapso</a:t>
            </a:r>
            <a:r>
              <a:rPr sz="1400" dirty="0"/>
              <a:t> de </a:t>
            </a:r>
            <a:r>
              <a:rPr sz="1400" dirty="0" err="1"/>
              <a:t>conexiones</a:t>
            </a:r>
            <a:r>
              <a:rPr sz="1400" dirty="0"/>
              <a:t> </a:t>
            </a:r>
            <a:r>
              <a:rPr sz="1400" dirty="0" err="1"/>
              <a:t>en</a:t>
            </a:r>
            <a:r>
              <a:rPr sz="1400" dirty="0"/>
              <a:t> BD.</a:t>
            </a:r>
          </a:p>
          <a:p>
            <a:pPr>
              <a:spcBef>
                <a:spcPts val="400"/>
              </a:spcBef>
              <a:defRPr sz="1100">
                <a:solidFill>
                  <a:srgbClr val="CBD5E1"/>
                </a:solidFill>
              </a:defRPr>
            </a:pPr>
            <a:r>
              <a:rPr sz="1400" dirty="0"/>
              <a:t>⚠️ </a:t>
            </a:r>
            <a:r>
              <a:rPr sz="1400" dirty="0" err="1"/>
              <a:t>Caídas</a:t>
            </a:r>
            <a:r>
              <a:rPr sz="1400" dirty="0"/>
              <a:t> </a:t>
            </a:r>
            <a:r>
              <a:rPr sz="1400" dirty="0" err="1"/>
              <a:t>imprevistas</a:t>
            </a:r>
            <a:r>
              <a:rPr sz="1400" dirty="0"/>
              <a:t> del </a:t>
            </a:r>
            <a:r>
              <a:rPr sz="1400" dirty="0" err="1"/>
              <a:t>sistema</a:t>
            </a:r>
            <a:r>
              <a:rPr sz="1400" dirty="0"/>
              <a:t> (downtime </a:t>
            </a:r>
            <a:r>
              <a:rPr sz="1400" dirty="0" err="1"/>
              <a:t>catastrófico</a:t>
            </a:r>
            <a:r>
              <a:rPr sz="1400" dirty="0"/>
              <a:t>).</a:t>
            </a:r>
          </a:p>
          <a:p>
            <a:pPr>
              <a:spcBef>
                <a:spcPts val="400"/>
              </a:spcBef>
              <a:defRPr sz="1100">
                <a:solidFill>
                  <a:srgbClr val="CBD5E1"/>
                </a:solidFill>
              </a:defRPr>
            </a:pPr>
            <a:r>
              <a:rPr sz="1400" dirty="0"/>
              <a:t>⚠️ </a:t>
            </a:r>
            <a:r>
              <a:rPr sz="1400" dirty="0" err="1"/>
              <a:t>Pérdida</a:t>
            </a:r>
            <a:r>
              <a:rPr sz="1400" dirty="0"/>
              <a:t> </a:t>
            </a:r>
            <a:r>
              <a:rPr sz="1400" dirty="0" err="1"/>
              <a:t>inmediata</a:t>
            </a:r>
            <a:r>
              <a:rPr sz="1400" dirty="0"/>
              <a:t> de </a:t>
            </a:r>
            <a:r>
              <a:rPr sz="1400" dirty="0" err="1"/>
              <a:t>clientes</a:t>
            </a:r>
            <a:r>
              <a:rPr sz="1400" dirty="0"/>
              <a:t> y </a:t>
            </a:r>
            <a:r>
              <a:rPr sz="1400" dirty="0" err="1"/>
              <a:t>reputación</a:t>
            </a:r>
            <a:r>
              <a:rPr sz="1400" dirty="0"/>
              <a:t> </a:t>
            </a:r>
            <a:r>
              <a:rPr sz="1400" dirty="0" err="1"/>
              <a:t>corporativa</a:t>
            </a:r>
            <a:r>
              <a:rPr sz="1400" dirty="0"/>
              <a:t>.</a:t>
            </a:r>
          </a:p>
          <a:p>
            <a:pPr>
              <a:spcBef>
                <a:spcPts val="400"/>
              </a:spcBef>
              <a:defRPr sz="1100">
                <a:solidFill>
                  <a:srgbClr val="CBD5E1"/>
                </a:solidFill>
              </a:defRPr>
            </a:pPr>
            <a:r>
              <a:rPr sz="1400" dirty="0"/>
              <a:t>⚠️ </a:t>
            </a:r>
            <a:r>
              <a:rPr sz="1400" dirty="0" err="1"/>
              <a:t>Incumplimiento</a:t>
            </a:r>
            <a:r>
              <a:rPr sz="1400" dirty="0"/>
              <a:t> de SLAs y </a:t>
            </a:r>
            <a:r>
              <a:rPr sz="1400" dirty="0" err="1"/>
              <a:t>sanciones</a:t>
            </a:r>
            <a:r>
              <a:rPr sz="1400" dirty="0"/>
              <a:t> </a:t>
            </a:r>
            <a:r>
              <a:rPr sz="1400" dirty="0" err="1"/>
              <a:t>legales</a:t>
            </a:r>
            <a:r>
              <a:rPr sz="1400" dirty="0"/>
              <a:t>/</a:t>
            </a:r>
            <a:r>
              <a:rPr sz="1400" dirty="0" err="1"/>
              <a:t>contractuales</a:t>
            </a:r>
            <a:r>
              <a:rPr sz="1400" dirty="0"/>
              <a:t>.</a:t>
            </a:r>
          </a:p>
        </p:txBody>
      </p:sp>
      <p:sp>
        <p:nvSpPr>
          <p:cNvPr id="7" name="Rounded Rectangle 6"/>
          <p:cNvSpPr/>
          <p:nvPr/>
        </p:nvSpPr>
        <p:spPr>
          <a:xfrm>
            <a:off x="6217920" y="4023360"/>
            <a:ext cx="5212080" cy="228600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BBF24"/>
                </a:solidFill>
              </a:defRPr>
            </a:pPr>
            <a:r>
              <a:rPr sz="1200" dirty="0"/>
              <a:t>RIESGO 2: SOBREDIMENSIONAR SIN ANÁLISIS MARGINAL</a:t>
            </a:r>
          </a:p>
          <a:p>
            <a:pPr>
              <a:spcBef>
                <a:spcPts val="400"/>
              </a:spcBef>
              <a:defRPr sz="1100">
                <a:solidFill>
                  <a:srgbClr val="CBD5E1"/>
                </a:solidFill>
              </a:defRPr>
            </a:pPr>
            <a:r>
              <a:rPr sz="1200" dirty="0"/>
              <a:t>📉 </a:t>
            </a:r>
            <a:r>
              <a:rPr sz="1200" dirty="0" err="1"/>
              <a:t>Admitir</a:t>
            </a:r>
            <a:r>
              <a:rPr sz="1200" dirty="0"/>
              <a:t> </a:t>
            </a:r>
            <a:r>
              <a:rPr sz="1200" dirty="0" err="1"/>
              <a:t>usuarios</a:t>
            </a:r>
            <a:r>
              <a:rPr sz="1200" dirty="0"/>
              <a:t> </a:t>
            </a:r>
            <a:r>
              <a:rPr sz="1200" dirty="0" err="1"/>
              <a:t>indefinidamente</a:t>
            </a:r>
            <a:r>
              <a:rPr sz="1200" dirty="0"/>
              <a:t> sin </a:t>
            </a:r>
            <a:r>
              <a:rPr sz="1200" dirty="0" err="1"/>
              <a:t>evaluar</a:t>
            </a:r>
            <a:r>
              <a:rPr sz="1200" dirty="0"/>
              <a:t> </a:t>
            </a:r>
            <a:r>
              <a:rPr sz="1200" dirty="0" err="1"/>
              <a:t>costos</a:t>
            </a:r>
            <a:r>
              <a:rPr sz="1200" dirty="0"/>
              <a:t> </a:t>
            </a:r>
            <a:r>
              <a:rPr sz="1200" dirty="0" err="1"/>
              <a:t>marginales</a:t>
            </a:r>
            <a:r>
              <a:rPr sz="1200" dirty="0"/>
              <a:t>.</a:t>
            </a:r>
          </a:p>
          <a:p>
            <a:pPr>
              <a:spcBef>
                <a:spcPts val="400"/>
              </a:spcBef>
              <a:defRPr sz="1100">
                <a:solidFill>
                  <a:srgbClr val="CBD5E1"/>
                </a:solidFill>
              </a:defRPr>
            </a:pPr>
            <a:r>
              <a:rPr sz="1200" dirty="0"/>
              <a:t>📉 El </a:t>
            </a:r>
            <a:r>
              <a:rPr sz="1200" dirty="0" err="1"/>
              <a:t>costo</a:t>
            </a:r>
            <a:r>
              <a:rPr sz="1200" dirty="0"/>
              <a:t> </a:t>
            </a:r>
            <a:r>
              <a:rPr sz="1200" dirty="0" err="1"/>
              <a:t>cuadrático</a:t>
            </a:r>
            <a:r>
              <a:rPr sz="1200" dirty="0"/>
              <a:t> de </a:t>
            </a:r>
            <a:r>
              <a:rPr sz="1200" dirty="0" err="1"/>
              <a:t>saturación</a:t>
            </a:r>
            <a:r>
              <a:rPr sz="1200" dirty="0"/>
              <a:t> </a:t>
            </a:r>
            <a:r>
              <a:rPr sz="1200" dirty="0" err="1"/>
              <a:t>supera</a:t>
            </a:r>
            <a:r>
              <a:rPr sz="1200" dirty="0"/>
              <a:t> el </a:t>
            </a:r>
            <a:r>
              <a:rPr sz="1200" dirty="0" err="1"/>
              <a:t>ingreso</a:t>
            </a:r>
            <a:r>
              <a:rPr sz="1200" dirty="0"/>
              <a:t> lineal.</a:t>
            </a:r>
          </a:p>
          <a:p>
            <a:pPr>
              <a:spcBef>
                <a:spcPts val="400"/>
              </a:spcBef>
              <a:defRPr sz="1100">
                <a:solidFill>
                  <a:srgbClr val="CBD5E1"/>
                </a:solidFill>
              </a:defRPr>
            </a:pPr>
            <a:r>
              <a:rPr sz="1200" dirty="0"/>
              <a:t>📉 </a:t>
            </a:r>
            <a:r>
              <a:rPr sz="1200" dirty="0" err="1"/>
              <a:t>Erosión</a:t>
            </a:r>
            <a:r>
              <a:rPr sz="1200" dirty="0"/>
              <a:t> </a:t>
            </a:r>
            <a:r>
              <a:rPr sz="1200" dirty="0" err="1"/>
              <a:t>progresiva</a:t>
            </a:r>
            <a:r>
              <a:rPr sz="1200" dirty="0"/>
              <a:t> del </a:t>
            </a:r>
            <a:r>
              <a:rPr sz="1200" dirty="0" err="1"/>
              <a:t>margen</a:t>
            </a:r>
            <a:r>
              <a:rPr sz="1200" dirty="0"/>
              <a:t> de </a:t>
            </a:r>
            <a:r>
              <a:rPr sz="1200" dirty="0" err="1"/>
              <a:t>ganancia</a:t>
            </a:r>
            <a:r>
              <a:rPr sz="1200" dirty="0"/>
              <a:t> </a:t>
            </a:r>
            <a:r>
              <a:rPr sz="1200" dirty="0" err="1"/>
              <a:t>neta</a:t>
            </a:r>
            <a:r>
              <a:rPr sz="1200" dirty="0"/>
              <a:t>.</a:t>
            </a:r>
          </a:p>
          <a:p>
            <a:pPr>
              <a:spcBef>
                <a:spcPts val="400"/>
              </a:spcBef>
              <a:defRPr sz="1100">
                <a:solidFill>
                  <a:srgbClr val="CBD5E1"/>
                </a:solidFill>
              </a:defRPr>
            </a:pPr>
            <a:r>
              <a:rPr sz="1200" dirty="0"/>
              <a:t>📉 </a:t>
            </a:r>
            <a:r>
              <a:rPr sz="1200" dirty="0" err="1"/>
              <a:t>Quiebra</a:t>
            </a:r>
            <a:r>
              <a:rPr sz="1200" dirty="0"/>
              <a:t> </a:t>
            </a:r>
            <a:r>
              <a:rPr sz="1200" dirty="0" err="1"/>
              <a:t>técnica</a:t>
            </a:r>
            <a:r>
              <a:rPr sz="1200" dirty="0"/>
              <a:t> </a:t>
            </a:r>
            <a:r>
              <a:rPr sz="1200" dirty="0" err="1"/>
              <a:t>por</a:t>
            </a:r>
            <a:r>
              <a:rPr sz="1200" dirty="0"/>
              <a:t> </a:t>
            </a:r>
            <a:r>
              <a:rPr sz="1200" dirty="0" err="1"/>
              <a:t>sobrecostos</a:t>
            </a:r>
            <a:r>
              <a:rPr sz="1200" dirty="0"/>
              <a:t> </a:t>
            </a:r>
            <a:r>
              <a:rPr sz="1200" dirty="0" err="1"/>
              <a:t>operativos</a:t>
            </a:r>
            <a:r>
              <a:rPr sz="1200" dirty="0"/>
              <a:t> </a:t>
            </a:r>
            <a:r>
              <a:rPr sz="1200" dirty="0" err="1"/>
              <a:t>en</a:t>
            </a:r>
            <a:r>
              <a:rPr sz="1200" dirty="0"/>
              <a:t> la </a:t>
            </a:r>
            <a:r>
              <a:rPr sz="1200" dirty="0" err="1"/>
              <a:t>nube</a:t>
            </a:r>
            <a:r>
              <a:rPr sz="12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1. PERFIL Y PREGUNTA DE NEGOCIO</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El Rol FinOps y la Pregunta Central de Decisión</a:t>
            </a:r>
          </a:p>
        </p:txBody>
      </p:sp>
      <p:sp>
        <p:nvSpPr>
          <p:cNvPr id="5" name="Rounded Rectangle 4"/>
          <p:cNvSpPr/>
          <p:nvPr/>
        </p:nvSpPr>
        <p:spPr>
          <a:xfrm>
            <a:off x="731520" y="1463040"/>
            <a:ext cx="4114800" cy="48463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38BDF8"/>
                </a:solidFill>
              </a:defRPr>
            </a:pPr>
            <a:r>
              <a:t>PERFIL OBJETIVO DEL SISTEMA</a:t>
            </a:r>
          </a:p>
          <a:p>
            <a:pPr>
              <a:spcBef>
                <a:spcPts val="1000"/>
              </a:spcBef>
              <a:defRPr sz="1150" b="1">
                <a:solidFill>
                  <a:srgbClr val="F8FAFC"/>
                </a:solidFill>
              </a:defRPr>
            </a:pPr>
            <a:r>
              <a:t>• TechOps &amp; FinOps Analyst:</a:t>
            </a:r>
            <a:r>
              <a:rPr b="0">
                <a:solidFill>
                  <a:srgbClr val="CBD5E1"/>
                </a:solidFill>
              </a:rPr>
              <a:t> Profesionales de operaciones en la nube encargados del monitoreo y eficiencia financiera.</a:t>
            </a:r>
          </a:p>
          <a:p>
            <a:pPr>
              <a:spcBef>
                <a:spcPts val="1000"/>
              </a:spcBef>
              <a:defRPr sz="1150" b="1">
                <a:solidFill>
                  <a:srgbClr val="F8FAFC"/>
                </a:solidFill>
              </a:defRPr>
            </a:pPr>
            <a:r>
              <a:t>• Gerencia Financiera (CFO):</a:t>
            </a:r>
            <a:r>
              <a:rPr b="0">
                <a:solidFill>
                  <a:srgbClr val="CBD5E1"/>
                </a:solidFill>
              </a:rPr>
              <a:t> Tomadores de decisiones estratégicas que asignan el presupuesto de infraestructura.</a:t>
            </a:r>
          </a:p>
          <a:p>
            <a:pPr>
              <a:spcBef>
                <a:spcPts val="1000"/>
              </a:spcBef>
              <a:defRPr sz="1150" b="1">
                <a:solidFill>
                  <a:srgbClr val="F8FAFC"/>
                </a:solidFill>
              </a:defRPr>
            </a:pPr>
            <a:r>
              <a:t>• Desafío Diario:</a:t>
            </a:r>
            <a:r>
              <a:rPr b="0">
                <a:solidFill>
                  <a:srgbClr val="CBD5E1"/>
                </a:solidFill>
              </a:rPr>
              <a:t> Decidir qué plan contratar, cuándo aprovisionar más recursos y cómo evitar el desperdicio.</a:t>
            </a:r>
          </a:p>
          <a:p>
            <a:pPr>
              <a:spcBef>
                <a:spcPts val="1000"/>
              </a:spcBef>
              <a:defRPr sz="1150" b="1">
                <a:solidFill>
                  <a:srgbClr val="F8FAFC"/>
                </a:solidFill>
              </a:defRPr>
            </a:pPr>
            <a:r>
              <a:t>• Necesidad Clave:</a:t>
            </a:r>
            <a:r>
              <a:rPr b="0">
                <a:solidFill>
                  <a:srgbClr val="CBD5E1"/>
                </a:solidFill>
              </a:rPr>
              <a:t> Criterios matemáticos cuantitativos formales en lugar de estimaciones empíricas o suposiciones arbitrarias.</a:t>
            </a:r>
          </a:p>
        </p:txBody>
      </p:sp>
      <p:sp>
        <p:nvSpPr>
          <p:cNvPr id="6" name="Rounded Rectangle 5"/>
          <p:cNvSpPr/>
          <p:nvPr/>
        </p:nvSpPr>
        <p:spPr>
          <a:xfrm>
            <a:off x="5212080" y="1463040"/>
            <a:ext cx="6217920" cy="22860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4D399"/>
                </a:solidFill>
              </a:defRPr>
            </a:pPr>
            <a:r>
              <a:t>INTERROGANTE 1: CAPACIDAD ÓPTIMA DE MÁXIMO BENEFICIO</a:t>
            </a:r>
          </a:p>
          <a:p>
            <a:pPr>
              <a:spcBef>
                <a:spcPts val="800"/>
              </a:spcBef>
              <a:defRPr sz="1500" b="1">
                <a:solidFill>
                  <a:srgbClr val="F8FAFC"/>
                </a:solidFill>
              </a:defRPr>
            </a:pPr>
            <a:r>
              <a:t>¿Cuántos usuarios simultáneos (x*) debe atender la plataforma web para maximizar la utilidad económica neta (U_max)?</a:t>
            </a:r>
          </a:p>
          <a:p>
            <a:pPr>
              <a:spcBef>
                <a:spcPts val="600"/>
              </a:spcBef>
              <a:defRPr sz="1100">
                <a:solidFill>
                  <a:srgbClr val="94A3B8"/>
                </a:solidFill>
              </a:defRPr>
            </a:pPr>
            <a:r>
              <a:t>Identificar el cénit operativo exacto donde cada usuario adicional empezaría a costar más de lo que genera.</a:t>
            </a:r>
          </a:p>
        </p:txBody>
      </p:sp>
      <p:sp>
        <p:nvSpPr>
          <p:cNvPr id="7" name="Rounded Rectangle 6"/>
          <p:cNvSpPr/>
          <p:nvPr/>
        </p:nvSpPr>
        <p:spPr>
          <a:xfrm>
            <a:off x="5212080" y="4023360"/>
            <a:ext cx="6217920" cy="228600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BBF24"/>
                </a:solidFill>
              </a:defRPr>
            </a:pPr>
            <a:r>
              <a:t>INTERROGANTE 2: MOMENTO EXACTO DE ESCALAMIENTO</a:t>
            </a:r>
          </a:p>
          <a:p>
            <a:pPr>
              <a:spcBef>
                <a:spcPts val="800"/>
              </a:spcBef>
              <a:defRPr sz="1500" b="1">
                <a:solidFill>
                  <a:srgbClr val="F8FAFC"/>
                </a:solidFill>
              </a:defRPr>
            </a:pPr>
            <a:r>
              <a:t>¿En qué momento preciso se recomienda ampliar la infraestructura hacia una escala superior?</a:t>
            </a:r>
          </a:p>
          <a:p>
            <a:pPr>
              <a:spcBef>
                <a:spcPts val="600"/>
              </a:spcBef>
              <a:defRPr sz="1100">
                <a:solidFill>
                  <a:srgbClr val="94A3B8"/>
                </a:solidFill>
              </a:defRPr>
            </a:pPr>
            <a:r>
              <a:t>Distinguir entre el límite de saturación física (caída inminente) y el umbral de conveniencia económica por rendimientos decrecientes.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2. MARCO TEÓRICO Y CONCEPTUAL</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Fundamentos del Cálculo Diferencial Aplicados a FinOps</a:t>
            </a:r>
          </a:p>
        </p:txBody>
      </p:sp>
      <p:sp>
        <p:nvSpPr>
          <p:cNvPr id="5" name="Rounded Rectangle 4"/>
          <p:cNvSpPr/>
          <p:nvPr/>
        </p:nvSpPr>
        <p:spPr>
          <a:xfrm>
            <a:off x="731520" y="1463040"/>
            <a:ext cx="521208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8BDF8"/>
                </a:solidFill>
              </a:defRPr>
            </a:pPr>
            <a:r>
              <a:t>RAZÓN DE CAMBIO INSTANTÁNEA Y MARGINALES</a:t>
            </a:r>
          </a:p>
          <a:p>
            <a:pPr>
              <a:spcBef>
                <a:spcPts val="400"/>
              </a:spcBef>
              <a:defRPr sz="1050" b="1">
                <a:solidFill>
                  <a:srgbClr val="F8FAFC"/>
                </a:solidFill>
              </a:defRPr>
            </a:pPr>
            <a:r>
              <a:t>• Costo Marginal C'(x):</a:t>
            </a:r>
            <a:r>
              <a:rPr b="0">
                <a:solidFill>
                  <a:srgbClr val="CBD5E1"/>
                </a:solidFill>
              </a:rPr>
              <a:t> Tasa instantánea de costo al admitir un usuario simultáneo adicional.</a:t>
            </a:r>
          </a:p>
          <a:p>
            <a:pPr>
              <a:spcBef>
                <a:spcPts val="400"/>
              </a:spcBef>
              <a:defRPr sz="1050" b="1">
                <a:solidFill>
                  <a:srgbClr val="F8FAFC"/>
                </a:solidFill>
              </a:defRPr>
            </a:pPr>
            <a:r>
              <a:t>• Ingreso Marginal R'(x):</a:t>
            </a:r>
            <a:r>
              <a:rPr b="0">
                <a:solidFill>
                  <a:srgbClr val="CBD5E1"/>
                </a:solidFill>
              </a:rPr>
              <a:t> Variación en ingresos por usuario adicional. Si tarifa p es constante, R'(x) = p.</a:t>
            </a:r>
          </a:p>
          <a:p>
            <a:pPr>
              <a:spcBef>
                <a:spcPts val="400"/>
              </a:spcBef>
              <a:defRPr sz="1050" b="1">
                <a:solidFill>
                  <a:srgbClr val="F8FAFC"/>
                </a:solidFill>
              </a:defRPr>
            </a:pPr>
            <a:r>
              <a:t>• Utilidad Marginal U'(x):</a:t>
            </a:r>
            <a:r>
              <a:rPr b="0">
                <a:solidFill>
                  <a:srgbClr val="CBD5E1"/>
                </a:solidFill>
              </a:rPr>
              <a:t> Ganancia incremental neta: U'(x) = R'(x) - C'(x).</a:t>
            </a:r>
          </a:p>
        </p:txBody>
      </p:sp>
      <p:sp>
        <p:nvSpPr>
          <p:cNvPr id="6" name="Rounded Rectangle 5"/>
          <p:cNvSpPr/>
          <p:nvPr/>
        </p:nvSpPr>
        <p:spPr>
          <a:xfrm>
            <a:off x="6217920" y="1463040"/>
            <a:ext cx="521208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4D399"/>
                </a:solidFill>
              </a:defRPr>
            </a:pPr>
            <a:r>
              <a:t>PUNTOS CRÍTICOS Y CONDICIÓN DE 1ER ORDEN</a:t>
            </a:r>
          </a:p>
          <a:p>
            <a:pPr>
              <a:spcBef>
                <a:spcPts val="400"/>
              </a:spcBef>
              <a:defRPr sz="1050" b="1">
                <a:solidFill>
                  <a:srgbClr val="F8FAFC"/>
                </a:solidFill>
              </a:defRPr>
            </a:pPr>
            <a:r>
              <a:t>• Condición de Extremo:</a:t>
            </a:r>
            <a:r>
              <a:rPr b="0">
                <a:solidFill>
                  <a:srgbClr val="CBD5E1"/>
                </a:solidFill>
              </a:rPr>
              <a:t> En un óptimo diferenciable, la derivada debe anularse: U'(x*) = 0.</a:t>
            </a:r>
          </a:p>
          <a:p>
            <a:pPr>
              <a:spcBef>
                <a:spcPts val="400"/>
              </a:spcBef>
              <a:defRPr sz="1050" b="1">
                <a:solidFill>
                  <a:srgbClr val="F8FAFC"/>
                </a:solidFill>
              </a:defRPr>
            </a:pPr>
            <a:r>
              <a:t>• Significado Económico:</a:t>
            </a:r>
            <a:r>
              <a:rPr b="0">
                <a:solidFill>
                  <a:srgbClr val="CBD5E1"/>
                </a:solidFill>
              </a:rPr>
              <a:t> Ocurre exactamente cuando R'(x*) = C'(x*). El ingreso del último usuario iguala su costo.</a:t>
            </a:r>
          </a:p>
          <a:p>
            <a:pPr>
              <a:spcBef>
                <a:spcPts val="400"/>
              </a:spcBef>
              <a:defRPr sz="1050" b="1">
                <a:solidFill>
                  <a:srgbClr val="F8FAFC"/>
                </a:solidFill>
              </a:defRPr>
            </a:pPr>
            <a:r>
              <a:t>• Regla Marginal:</a:t>
            </a:r>
            <a:r>
              <a:rPr b="0">
                <a:solidFill>
                  <a:srgbClr val="CBD5E1"/>
                </a:solidFill>
              </a:rPr>
              <a:t> Si R'(x) &gt; C'(x), conviene crecer. Si R'(x) &lt; C'(x), cada nuevo usuario genera pérdidas.</a:t>
            </a:r>
          </a:p>
        </p:txBody>
      </p:sp>
      <p:sp>
        <p:nvSpPr>
          <p:cNvPr id="7" name="Rounded Rectangle 6"/>
          <p:cNvSpPr/>
          <p:nvPr/>
        </p:nvSpPr>
        <p:spPr>
          <a:xfrm>
            <a:off x="731520" y="4023360"/>
            <a:ext cx="521208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BBF24"/>
                </a:solidFill>
              </a:defRPr>
            </a:pPr>
            <a:r>
              <a:t>CRITERIO DE LA 2DA DERIVADA Y CONCAVIDAD</a:t>
            </a:r>
          </a:p>
          <a:p>
            <a:pPr>
              <a:spcBef>
                <a:spcPts val="400"/>
              </a:spcBef>
              <a:defRPr sz="1050" b="1">
                <a:solidFill>
                  <a:srgbClr val="F8FAFC"/>
                </a:solidFill>
              </a:defRPr>
            </a:pPr>
            <a:r>
              <a:t>• Clasificación de Extremos:</a:t>
            </a:r>
            <a:r>
              <a:rPr b="0">
                <a:solidFill>
                  <a:srgbClr val="CBD5E1"/>
                </a:solidFill>
              </a:rPr>
              <a:t> Si U''(x*) &lt; 0 en el punto crítico, la curva es cóncava hacia abajo -&gt; MÁXIMO ABSOLUTO.</a:t>
            </a:r>
          </a:p>
          <a:p>
            <a:pPr>
              <a:spcBef>
                <a:spcPts val="400"/>
              </a:spcBef>
              <a:defRPr sz="1050" b="1">
                <a:solidFill>
                  <a:srgbClr val="F8FAFC"/>
                </a:solidFill>
              </a:defRPr>
            </a:pPr>
            <a:r>
              <a:t>• Rendimientos Decrecientes:</a:t>
            </a:r>
            <a:r>
              <a:rPr b="0">
                <a:solidFill>
                  <a:srgbClr val="CBD5E1"/>
                </a:solidFill>
              </a:rPr>
              <a:t> C''(x) &gt; 0 indica que los costos marginales son crecientes debido a la saturación.</a:t>
            </a:r>
          </a:p>
          <a:p>
            <a:pPr>
              <a:spcBef>
                <a:spcPts val="400"/>
              </a:spcBef>
              <a:defRPr sz="1050" b="1">
                <a:solidFill>
                  <a:srgbClr val="F8FAFC"/>
                </a:solidFill>
              </a:defRPr>
            </a:pPr>
            <a:r>
              <a:t>• Garantía Global:</a:t>
            </a:r>
            <a:r>
              <a:rPr b="0">
                <a:solidFill>
                  <a:srgbClr val="CBD5E1"/>
                </a:solidFill>
              </a:rPr>
              <a:t> Al ser U''(x) estrictamente negativa para todo x, el máximo es único y global.</a:t>
            </a:r>
          </a:p>
        </p:txBody>
      </p:sp>
      <p:sp>
        <p:nvSpPr>
          <p:cNvPr id="8" name="Rounded Rectangle 7"/>
          <p:cNvSpPr/>
          <p:nvPr/>
        </p:nvSpPr>
        <p:spPr>
          <a:xfrm>
            <a:off x="6217920" y="4023360"/>
            <a:ext cx="521208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87171"/>
                </a:solidFill>
              </a:defRPr>
            </a:pPr>
            <a:r>
              <a:t>COMPORTAMIENTO ASINTÓTICO (LÍMITES AL INFINITO)</a:t>
            </a:r>
          </a:p>
          <a:p>
            <a:pPr>
              <a:spcBef>
                <a:spcPts val="400"/>
              </a:spcBef>
              <a:defRPr sz="1050" b="1">
                <a:solidFill>
                  <a:srgbClr val="F8FAFC"/>
                </a:solidFill>
              </a:defRPr>
            </a:pPr>
            <a:r>
              <a:t>• Límite Teórico:</a:t>
            </a:r>
            <a:r>
              <a:rPr b="0">
                <a:solidFill>
                  <a:srgbClr val="CBD5E1"/>
                </a:solidFill>
              </a:rPr>
              <a:t> lim_{x -&gt; ∞} U(x) = lim_{x -&gt; ∞} [-k x² + (p - c)x - F] = -∞.</a:t>
            </a:r>
          </a:p>
          <a:p>
            <a:pPr>
              <a:spcBef>
                <a:spcPts val="400"/>
              </a:spcBef>
              <a:defRPr sz="1050" b="1">
                <a:solidFill>
                  <a:srgbClr val="F8FAFC"/>
                </a:solidFill>
              </a:defRPr>
            </a:pPr>
            <a:r>
              <a:t>• Interpretación Práctica:</a:t>
            </a:r>
            <a:r>
              <a:rPr b="0">
                <a:solidFill>
                  <a:srgbClr val="CBD5E1"/>
                </a:solidFill>
              </a:rPr>
              <a:t> El término cuadrático de fricción (-k x²) domina absolutamente sobre el término lineal de ingresos.</a:t>
            </a:r>
          </a:p>
          <a:p>
            <a:pPr>
              <a:spcBef>
                <a:spcPts val="400"/>
              </a:spcBef>
              <a:defRPr sz="1050" b="1">
                <a:solidFill>
                  <a:srgbClr val="F8FAFC"/>
                </a:solidFill>
              </a:defRPr>
            </a:pPr>
            <a:r>
              <a:t>• Conclusión Técnica:</a:t>
            </a:r>
            <a:r>
              <a:rPr b="0">
                <a:solidFill>
                  <a:srgbClr val="CBD5E1"/>
                </a:solidFill>
              </a:rPr>
              <a:t> Forzar un crecimiento infinito sobre una misma arquitectura conduce inevitablemente a la quiebra técnica.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3. DEMOSTRACIÓN TEÓRICA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Deducción Analítica del Modelo General de Concurrencia</a:t>
            </a:r>
          </a:p>
        </p:txBody>
      </p:sp>
      <p:sp>
        <p:nvSpPr>
          <p:cNvPr id="5" name="Rounded Rectangle 4"/>
          <p:cNvSpPr/>
          <p:nvPr/>
        </p:nvSpPr>
        <p:spPr>
          <a:xfrm>
            <a:off x="731520" y="1463040"/>
            <a:ext cx="3383280" cy="48463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8BDF8"/>
                </a:solidFill>
              </a:defRPr>
            </a:pPr>
            <a:r>
              <a:t>PASO 1: FUNCIONES BASE</a:t>
            </a:r>
          </a:p>
          <a:p>
            <a:pPr>
              <a:spcBef>
                <a:spcPts val="800"/>
              </a:spcBef>
              <a:defRPr sz="1100" b="1">
                <a:solidFill>
                  <a:srgbClr val="F8FAFC"/>
                </a:solidFill>
              </a:defRPr>
            </a:pPr>
            <a:r>
              <a:t>Función de Costo:</a:t>
            </a:r>
            <a:r>
              <a:rPr b="0">
                <a:solidFill>
                  <a:srgbClr val="CBD5E1"/>
                </a:solidFill>
              </a:rPr>
              <a:t>
C(x) = F + c·x + k·x²
(F &gt; 0: Fijos, c &gt; 0: Lineal, k &gt; 0: Cuadrático)</a:t>
            </a:r>
          </a:p>
          <a:p>
            <a:pPr>
              <a:spcBef>
                <a:spcPts val="800"/>
              </a:spcBef>
              <a:defRPr sz="1100" b="1">
                <a:solidFill>
                  <a:srgbClr val="F8FAFC"/>
                </a:solidFill>
              </a:defRPr>
            </a:pPr>
            <a:r>
              <a:t>Función de Ingreso:</a:t>
            </a:r>
            <a:r>
              <a:rPr b="0">
                <a:solidFill>
                  <a:srgbClr val="CBD5E1"/>
                </a:solidFill>
              </a:rPr>
              <a:t>
R(x) = p·x
(p &gt; c: Condición básica de rentabilidad)</a:t>
            </a:r>
          </a:p>
          <a:p>
            <a:pPr>
              <a:spcBef>
                <a:spcPts val="800"/>
              </a:spcBef>
              <a:defRPr sz="1100" b="1">
                <a:solidFill>
                  <a:srgbClr val="F8FAFC"/>
                </a:solidFill>
              </a:defRPr>
            </a:pPr>
            <a:r>
              <a:t>Función de Utilidad:</a:t>
            </a:r>
            <a:r>
              <a:rPr b="0">
                <a:solidFill>
                  <a:srgbClr val="CBD5E1"/>
                </a:solidFill>
              </a:rPr>
              <a:t>
U(x) = R(x) - C(x)
U(x) = p·x - (F + c·x + k·x²)
U(x) = -k·x² + (p - c)·x - F</a:t>
            </a:r>
          </a:p>
        </p:txBody>
      </p:sp>
      <p:sp>
        <p:nvSpPr>
          <p:cNvPr id="6" name="Rounded Rectangle 5"/>
          <p:cNvSpPr/>
          <p:nvPr/>
        </p:nvSpPr>
        <p:spPr>
          <a:xfrm>
            <a:off x="4389120" y="1463040"/>
            <a:ext cx="3383280" cy="48463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4D399"/>
                </a:solidFill>
              </a:defRPr>
            </a:pPr>
            <a:r>
              <a:t>PASO 2: DERIVACIÓN Y ÓPTIMO</a:t>
            </a:r>
          </a:p>
          <a:p>
            <a:pPr>
              <a:spcBef>
                <a:spcPts val="800"/>
              </a:spcBef>
              <a:defRPr sz="1100" b="1">
                <a:solidFill>
                  <a:srgbClr val="F8FAFC"/>
                </a:solidFill>
              </a:defRPr>
            </a:pPr>
            <a:r>
              <a:t>Derivadas Marginales:</a:t>
            </a:r>
            <a:r>
              <a:rPr b="0">
                <a:solidFill>
                  <a:srgbClr val="CBD5E1"/>
                </a:solidFill>
              </a:rPr>
              <a:t>
C'(x) = c + 2kx
R'(x) = p
U'(x) = (p - c) - 2kx</a:t>
            </a:r>
          </a:p>
          <a:p>
            <a:pPr>
              <a:spcBef>
                <a:spcPts val="800"/>
              </a:spcBef>
              <a:defRPr sz="1100" b="1">
                <a:solidFill>
                  <a:srgbClr val="F8FAFC"/>
                </a:solidFill>
              </a:defRPr>
            </a:pPr>
            <a:r>
              <a:t>Punto Crítico (1ra Derivada):</a:t>
            </a:r>
            <a:r>
              <a:rPr b="0">
                <a:solidFill>
                  <a:srgbClr val="CBD5E1"/>
                </a:solidFill>
              </a:rPr>
              <a:t>
U'(x*) = 0
(p - c) - 2kx* = 0
2kx* = p - c</a:t>
            </a:r>
          </a:p>
          <a:p>
            <a:pPr>
              <a:spcBef>
                <a:spcPts val="800"/>
              </a:spcBef>
              <a:defRPr sz="1100" b="1">
                <a:solidFill>
                  <a:srgbClr val="F8FAFC"/>
                </a:solidFill>
              </a:defRPr>
            </a:pPr>
            <a:r>
              <a:t>Fórmula General del Óptimo:</a:t>
            </a:r>
            <a:r>
              <a:rPr b="0">
                <a:solidFill>
                  <a:srgbClr val="CBD5E1"/>
                </a:solidFill>
              </a:rPr>
              <a:t>
x* = (p - c) / (2k)
Como p &gt; c y k &gt; 0, se garantiza matemáticamente que x* &gt; 0.</a:t>
            </a:r>
          </a:p>
        </p:txBody>
      </p:sp>
      <p:sp>
        <p:nvSpPr>
          <p:cNvPr id="7" name="Rounded Rectangle 6"/>
          <p:cNvSpPr/>
          <p:nvPr/>
        </p:nvSpPr>
        <p:spPr>
          <a:xfrm>
            <a:off x="8046720" y="1463040"/>
            <a:ext cx="3383280" cy="48463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BBF24"/>
                </a:solidFill>
              </a:defRPr>
            </a:pPr>
            <a:r>
              <a:t>PASO 3: VALIDACIÓN Y MÁXIMO</a:t>
            </a:r>
          </a:p>
          <a:p>
            <a:pPr>
              <a:spcBef>
                <a:spcPts val="800"/>
              </a:spcBef>
              <a:defRPr sz="1100" b="1">
                <a:solidFill>
                  <a:srgbClr val="F8FAFC"/>
                </a:solidFill>
              </a:defRPr>
            </a:pPr>
            <a:r>
              <a:t>Criterio de la 2da Derivada:</a:t>
            </a:r>
            <a:r>
              <a:rPr b="0">
                <a:solidFill>
                  <a:srgbClr val="CBD5E1"/>
                </a:solidFill>
              </a:rPr>
              <a:t>
U''(x) = d/dx [(p - c) - 2kx]
U''(x) = -2k
Dado que k &gt; 0:
U''(x) &lt; 0  ∀ x ∈ ℝ⁺
-&gt; Cóncava hacia abajo (Máximo Absoluto Global).</a:t>
            </a:r>
          </a:p>
          <a:p>
            <a:pPr>
              <a:spcBef>
                <a:spcPts val="800"/>
              </a:spcBef>
              <a:defRPr sz="1100" b="1">
                <a:solidFill>
                  <a:srgbClr val="F8FAFC"/>
                </a:solidFill>
              </a:defRPr>
            </a:pPr>
            <a:r>
              <a:t>Utilidad Máxima Obtenible:</a:t>
            </a:r>
            <a:r>
              <a:rPr b="0">
                <a:solidFill>
                  <a:srgbClr val="CBD5E1"/>
                </a:solidFill>
              </a:rPr>
              <a:t>
Sustituyendo x* en U(x):
U_max = (p - c)² / (4k) - F</a:t>
            </a:r>
          </a:p>
          <a:p>
            <a:pPr>
              <a:spcBef>
                <a:spcPts val="800"/>
              </a:spcBef>
              <a:defRPr sz="1100" b="1">
                <a:solidFill>
                  <a:srgbClr val="F8FAFC"/>
                </a:solidFill>
              </a:defRPr>
            </a:pPr>
            <a:r>
              <a:t>Comportamiento Asintótico:</a:t>
            </a:r>
            <a:r>
              <a:rPr b="0">
                <a:solidFill>
                  <a:srgbClr val="CBD5E1"/>
                </a:solidFill>
              </a:rPr>
              <a:t>
lim_{x -&gt; ∞} U(x) = -∞
Confirma la saturación inevitable.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4. VARIABLES Y SUPUESTOS</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Parámetros del Caso Base (Infraestructura Intermedia)</a:t>
            </a:r>
          </a:p>
        </p:txBody>
      </p:sp>
      <p:sp>
        <p:nvSpPr>
          <p:cNvPr id="5" name="Rounded Rectangle 4"/>
          <p:cNvSpPr/>
          <p:nvPr/>
        </p:nvSpPr>
        <p:spPr>
          <a:xfrm>
            <a:off x="731520" y="1463040"/>
            <a:ext cx="5120640" cy="48463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38BDF8"/>
                </a:solidFill>
              </a:defRPr>
            </a:pPr>
            <a:r>
              <a:t>PARÁMETROS DEL CASO BASE (PLAN INTERMEDIO)</a:t>
            </a:r>
          </a:p>
          <a:p>
            <a:pPr>
              <a:spcBef>
                <a:spcPts val="800"/>
              </a:spcBef>
              <a:defRPr sz="1100" b="1">
                <a:solidFill>
                  <a:srgbClr val="F8FAFC"/>
                </a:solidFill>
              </a:defRPr>
            </a:pPr>
            <a:r>
              <a:t>• x (Variable Independiente):</a:t>
            </a:r>
            <a:r>
              <a:rPr b="0">
                <a:solidFill>
                  <a:srgbClr val="CBD5E1"/>
                </a:solidFill>
              </a:rPr>
              <a:t> Cantidad de usuarios simultáneos conectados.</a:t>
            </a:r>
          </a:p>
          <a:p>
            <a:pPr>
              <a:spcBef>
                <a:spcPts val="800"/>
              </a:spcBef>
              <a:defRPr sz="1100" b="1">
                <a:solidFill>
                  <a:srgbClr val="F8FAFC"/>
                </a:solidFill>
              </a:defRPr>
            </a:pPr>
            <a:r>
              <a:t>• p (Tarifa Unitaria):</a:t>
            </a:r>
            <a:r>
              <a:rPr b="0">
                <a:solidFill>
                  <a:srgbClr val="CBD5E1"/>
                </a:solidFill>
              </a:rPr>
              <a:t> USD $50.00 por usuario recurrente.</a:t>
            </a:r>
          </a:p>
          <a:p>
            <a:pPr>
              <a:spcBef>
                <a:spcPts val="800"/>
              </a:spcBef>
              <a:defRPr sz="1100" b="1">
                <a:solidFill>
                  <a:srgbClr val="F8FAFC"/>
                </a:solidFill>
              </a:defRPr>
            </a:pPr>
            <a:r>
              <a:t>• F (Costos Fijos Operativos):</a:t>
            </a:r>
            <a:r>
              <a:rPr b="0">
                <a:solidFill>
                  <a:srgbClr val="CBD5E1"/>
                </a:solidFill>
              </a:rPr>
              <a:t> USD $3,000.00 mensuales (servidores base, licencias, red).</a:t>
            </a:r>
          </a:p>
          <a:p>
            <a:pPr>
              <a:spcBef>
                <a:spcPts val="800"/>
              </a:spcBef>
              <a:defRPr sz="1100" b="1">
                <a:solidFill>
                  <a:srgbClr val="F8FAFC"/>
                </a:solidFill>
              </a:defRPr>
            </a:pPr>
            <a:r>
              <a:t>• c (Costo Lineal por Usuario):</a:t>
            </a:r>
            <a:r>
              <a:rPr b="0">
                <a:solidFill>
                  <a:srgbClr val="CBD5E1"/>
                </a:solidFill>
              </a:rPr>
              <a:t> USD $8.00 (ancho de banda estándar y cómputo base).</a:t>
            </a:r>
          </a:p>
          <a:p>
            <a:pPr>
              <a:spcBef>
                <a:spcPts val="800"/>
              </a:spcBef>
              <a:defRPr sz="1100" b="1">
                <a:solidFill>
                  <a:srgbClr val="F8FAFC"/>
                </a:solidFill>
              </a:defRPr>
            </a:pPr>
            <a:r>
              <a:t>• k (Factor de Fricción Cuadrático):</a:t>
            </a:r>
            <a:r>
              <a:rPr b="0">
                <a:solidFill>
                  <a:srgbClr val="CBD5E1"/>
                </a:solidFill>
              </a:rPr>
              <a:t> USD 0.02 / usuario² (contención de BD y concurrencia).</a:t>
            </a:r>
          </a:p>
          <a:p>
            <a:pPr>
              <a:spcBef>
                <a:spcPts val="800"/>
              </a:spcBef>
              <a:defRPr sz="1100" b="1">
                <a:solidFill>
                  <a:srgbClr val="F8FAFC"/>
                </a:solidFill>
              </a:defRPr>
            </a:pPr>
            <a:r>
              <a:t>• C_max (Capacidad Límite Física):</a:t>
            </a:r>
            <a:r>
              <a:rPr b="0">
                <a:solidFill>
                  <a:srgbClr val="CBD5E1"/>
                </a:solidFill>
              </a:rPr>
              <a:t> 1,500 usuarios concurrentes antes de la degradación total.</a:t>
            </a:r>
          </a:p>
        </p:txBody>
      </p:sp>
      <p:sp>
        <p:nvSpPr>
          <p:cNvPr id="6" name="Rounded Rectangle 5"/>
          <p:cNvSpPr/>
          <p:nvPr/>
        </p:nvSpPr>
        <p:spPr>
          <a:xfrm>
            <a:off x="6217920" y="1463040"/>
            <a:ext cx="5212080" cy="22860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4D399"/>
                </a:solidFill>
              </a:defRPr>
            </a:pPr>
            <a:r>
              <a:t>ECUACIONES NUMÉRICAS CONSOLIDADAS</a:t>
            </a:r>
          </a:p>
          <a:p>
            <a:pPr>
              <a:spcBef>
                <a:spcPts val="400"/>
              </a:spcBef>
              <a:defRPr sz="1200" b="1">
                <a:solidFill>
                  <a:srgbClr val="F8FAFC"/>
                </a:solidFill>
              </a:defRPr>
            </a:pPr>
            <a:r>
              <a:t>Costo Total: </a:t>
            </a:r>
            <a:r>
              <a:rPr b="1">
                <a:solidFill>
                  <a:srgbClr val="FBBF24"/>
                </a:solidFill>
              </a:rPr>
              <a:t>C(x) = 3000 + 8x + 0.02x²</a:t>
            </a:r>
          </a:p>
          <a:p>
            <a:pPr>
              <a:spcBef>
                <a:spcPts val="400"/>
              </a:spcBef>
              <a:defRPr sz="1200" b="1">
                <a:solidFill>
                  <a:srgbClr val="F8FAFC"/>
                </a:solidFill>
              </a:defRPr>
            </a:pPr>
            <a:r>
              <a:t>Ingreso Total: </a:t>
            </a:r>
            <a:r>
              <a:rPr b="1">
                <a:solidFill>
                  <a:srgbClr val="FBBF24"/>
                </a:solidFill>
              </a:rPr>
              <a:t>R(x) = 50x</a:t>
            </a:r>
          </a:p>
          <a:p>
            <a:pPr>
              <a:spcBef>
                <a:spcPts val="400"/>
              </a:spcBef>
              <a:defRPr sz="1200" b="1">
                <a:solidFill>
                  <a:srgbClr val="F8FAFC"/>
                </a:solidFill>
              </a:defRPr>
            </a:pPr>
            <a:r>
              <a:t>Utilidad Neta: </a:t>
            </a:r>
            <a:r>
              <a:rPr b="1">
                <a:solidFill>
                  <a:srgbClr val="FBBF24"/>
                </a:solidFill>
              </a:rPr>
              <a:t>U(x) = -0.02x² + 42x - 3000</a:t>
            </a:r>
          </a:p>
        </p:txBody>
      </p:sp>
      <p:sp>
        <p:nvSpPr>
          <p:cNvPr id="7" name="Rounded Rectangle 6"/>
          <p:cNvSpPr/>
          <p:nvPr/>
        </p:nvSpPr>
        <p:spPr>
          <a:xfrm>
            <a:off x="6217920" y="4023360"/>
            <a:ext cx="521208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818CF8"/>
                </a:solidFill>
              </a:defRPr>
            </a:pPr>
            <a:r>
              <a:t>SUPUESTOS Y LIMITACIONES DEL MODELO</a:t>
            </a:r>
          </a:p>
          <a:p>
            <a:pPr>
              <a:spcBef>
                <a:spcPts val="400"/>
              </a:spcBef>
              <a:defRPr sz="1050" b="1">
                <a:solidFill>
                  <a:srgbClr val="F8FAFC"/>
                </a:solidFill>
              </a:defRPr>
            </a:pPr>
            <a:r>
              <a:t>• Dominio Operativo Continuo:</a:t>
            </a:r>
            <a:r>
              <a:rPr b="0">
                <a:solidFill>
                  <a:srgbClr val="CBD5E1"/>
                </a:solidFill>
              </a:rPr>
              <a:t> El análisis se evalúa en el intervalo x ∈ [0, 1500].</a:t>
            </a:r>
          </a:p>
          <a:p>
            <a:pPr>
              <a:spcBef>
                <a:spcPts val="400"/>
              </a:spcBef>
              <a:defRPr sz="1050" b="1">
                <a:solidFill>
                  <a:srgbClr val="F8FAFC"/>
                </a:solidFill>
              </a:defRPr>
            </a:pPr>
            <a:r>
              <a:t>• Homogeneidad de Tráfico:</a:t>
            </a:r>
            <a:r>
              <a:rPr b="0">
                <a:solidFill>
                  <a:srgbClr val="CBD5E1"/>
                </a:solidFill>
              </a:rPr>
              <a:t> Supone requerimientos uniformes de consumo por usuario.</a:t>
            </a:r>
          </a:p>
          <a:p>
            <a:pPr>
              <a:spcBef>
                <a:spcPts val="400"/>
              </a:spcBef>
              <a:defRPr sz="1050" b="1">
                <a:solidFill>
                  <a:srgbClr val="F8FAFC"/>
                </a:solidFill>
              </a:defRPr>
            </a:pPr>
            <a:r>
              <a:t>• Tarifa Plana Estable:</a:t>
            </a:r>
            <a:r>
              <a:rPr b="0">
                <a:solidFill>
                  <a:srgbClr val="CBD5E1"/>
                </a:solidFill>
              </a:rPr>
              <a:t> La tarifa p se asume invariable en el periodo evaluado.</a:t>
            </a:r>
          </a:p>
          <a:p>
            <a:pPr>
              <a:spcBef>
                <a:spcPts val="400"/>
              </a:spcBef>
              <a:defRPr sz="1050" b="1">
                <a:solidFill>
                  <a:srgbClr val="F8FAFC"/>
                </a:solidFill>
              </a:defRPr>
            </a:pPr>
            <a:r>
              <a:t>• Escalamiento Discontinuo:</a:t>
            </a:r>
            <a:r>
              <a:rPr b="0">
                <a:solidFill>
                  <a:srgbClr val="CBD5E1"/>
                </a:solidFill>
              </a:rPr>
              <a:t> En la práctica real, los planes cloud se escalan por bloques modulares.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5. DESARROLLO Y RESULTADOS</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Resolución Numérica del Caso Base</a:t>
            </a:r>
          </a:p>
        </p:txBody>
      </p:sp>
      <p:sp>
        <p:nvSpPr>
          <p:cNvPr id="5" name="Rounded Rectangle 4"/>
          <p:cNvSpPr/>
          <p:nvPr/>
        </p:nvSpPr>
        <p:spPr>
          <a:xfrm>
            <a:off x="731520" y="1463040"/>
            <a:ext cx="3383280" cy="16459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8BDF8"/>
                </a:solidFill>
              </a:defRPr>
            </a:pPr>
            <a:r>
              <a:t>CONCURRENCIA ÓPTIMA (x*)</a:t>
            </a:r>
          </a:p>
          <a:p>
            <a:pPr>
              <a:defRPr sz="2800" b="1">
                <a:solidFill>
                  <a:srgbClr val="F8FAFC"/>
                </a:solidFill>
              </a:defRPr>
            </a:pPr>
            <a:r>
              <a:t>1,050</a:t>
            </a:r>
          </a:p>
          <a:p>
            <a:pPr>
              <a:defRPr sz="1050">
                <a:solidFill>
                  <a:srgbClr val="94A3B8"/>
                </a:solidFill>
              </a:defRPr>
            </a:pPr>
            <a:r>
              <a:t>Usuarios simultáneos óptimos</a:t>
            </a:r>
          </a:p>
        </p:txBody>
      </p:sp>
      <p:sp>
        <p:nvSpPr>
          <p:cNvPr id="6" name="Rounded Rectangle 5"/>
          <p:cNvSpPr/>
          <p:nvPr/>
        </p:nvSpPr>
        <p:spPr>
          <a:xfrm>
            <a:off x="4389120" y="1463040"/>
            <a:ext cx="3383280" cy="16459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4D399"/>
                </a:solidFill>
              </a:defRPr>
            </a:pPr>
            <a:r>
              <a:t>UTILIDAD MÁXIMA NETA (U_max)</a:t>
            </a:r>
          </a:p>
          <a:p>
            <a:pPr>
              <a:defRPr sz="2800" b="1">
                <a:solidFill>
                  <a:srgbClr val="F8FAFC"/>
                </a:solidFill>
              </a:defRPr>
            </a:pPr>
            <a:r>
              <a:t>$19,050.00</a:t>
            </a:r>
          </a:p>
          <a:p>
            <a:pPr>
              <a:defRPr sz="1050">
                <a:solidFill>
                  <a:srgbClr val="94A3B8"/>
                </a:solidFill>
              </a:defRPr>
            </a:pPr>
            <a:r>
              <a:t>USD mensuales en x = 1,050</a:t>
            </a:r>
          </a:p>
        </p:txBody>
      </p:sp>
      <p:sp>
        <p:nvSpPr>
          <p:cNvPr id="7" name="Rounded Rectangle 6"/>
          <p:cNvSpPr/>
          <p:nvPr/>
        </p:nvSpPr>
        <p:spPr>
          <a:xfrm>
            <a:off x="8046720" y="1463040"/>
            <a:ext cx="3383280" cy="164592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BBF24"/>
                </a:solidFill>
              </a:defRPr>
            </a:pPr>
            <a:r>
              <a:t>SEGUNDA DERIVADA (U'')</a:t>
            </a:r>
          </a:p>
          <a:p>
            <a:pPr>
              <a:defRPr sz="2800" b="1">
                <a:solidFill>
                  <a:srgbClr val="F8FAFC"/>
                </a:solidFill>
              </a:defRPr>
            </a:pPr>
            <a:r>
              <a:t>-0.04 &lt; 0</a:t>
            </a:r>
          </a:p>
          <a:p>
            <a:pPr>
              <a:defRPr sz="1050">
                <a:solidFill>
                  <a:srgbClr val="94A3B8"/>
                </a:solidFill>
              </a:defRPr>
            </a:pPr>
            <a:r>
              <a:t>Máximo Absoluto Estricto</a:t>
            </a:r>
          </a:p>
        </p:txBody>
      </p:sp>
      <p:sp>
        <p:nvSpPr>
          <p:cNvPr id="8" name="Rounded Rectangle 7"/>
          <p:cNvSpPr/>
          <p:nvPr/>
        </p:nvSpPr>
        <p:spPr>
          <a:xfrm>
            <a:off x="731520" y="3383280"/>
            <a:ext cx="5212080" cy="29260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8BDF8"/>
                </a:solidFill>
              </a:defRPr>
            </a:pPr>
            <a:r>
              <a:t>CÁLCULO DEL PUNTO CRÍTICO Y EQUILIBRIO</a:t>
            </a:r>
          </a:p>
          <a:p>
            <a:pPr>
              <a:spcBef>
                <a:spcPts val="600"/>
              </a:spcBef>
              <a:defRPr sz="1050" b="1">
                <a:solidFill>
                  <a:srgbClr val="F8FAFC"/>
                </a:solidFill>
              </a:defRPr>
            </a:pPr>
            <a:r>
              <a:t>• Condición Marginal:</a:t>
            </a:r>
            <a:r>
              <a:rPr b="0">
                <a:solidFill>
                  <a:srgbClr val="CBD5E1"/>
                </a:solidFill>
              </a:rPr>
              <a:t>
  U'(x) = 42 - 0.04x = 0  =&gt;  x* = 42 / 0.04 = 1,050</a:t>
            </a:r>
          </a:p>
          <a:p>
            <a:pPr>
              <a:spcBef>
                <a:spcPts val="600"/>
              </a:spcBef>
              <a:defRPr sz="1050" b="1">
                <a:solidFill>
                  <a:srgbClr val="F8FAFC"/>
                </a:solidFill>
              </a:defRPr>
            </a:pPr>
            <a:r>
              <a:t>• Comprobación de Concavidad:</a:t>
            </a:r>
            <a:r>
              <a:rPr b="0">
                <a:solidFill>
                  <a:srgbClr val="CBD5E1"/>
                </a:solidFill>
              </a:rPr>
              <a:t>
  U''(1050) = -0.04 &lt; 0  -&gt;  Máximo Global</a:t>
            </a:r>
          </a:p>
          <a:p>
            <a:pPr>
              <a:spcBef>
                <a:spcPts val="600"/>
              </a:spcBef>
              <a:defRPr sz="1050" b="1">
                <a:solidFill>
                  <a:srgbClr val="F8FAFC"/>
                </a:solidFill>
              </a:defRPr>
            </a:pPr>
            <a:r>
              <a:t>• Puntos de Equilibrio (Break-Even):</a:t>
            </a:r>
            <a:r>
              <a:rPr b="0">
                <a:solidFill>
                  <a:srgbClr val="CBD5E1"/>
                </a:solidFill>
              </a:rPr>
              <a:t>
  U(x) = 0  =&gt;  -0.02x² + 42x - 3000 = 0
• x₁ ≈ 75 usuarios (umbral mínimo de rentabilidad)
• x₂ ≈ 2,026 usuarios (límite superior antes de pérdidas)</a:t>
            </a:r>
          </a:p>
        </p:txBody>
      </p:sp>
      <p:sp>
        <p:nvSpPr>
          <p:cNvPr id="9" name="Rounded Rectangle 8"/>
          <p:cNvSpPr/>
          <p:nvPr/>
        </p:nvSpPr>
        <p:spPr>
          <a:xfrm>
            <a:off x="6217920" y="3383280"/>
            <a:ext cx="5212080" cy="29260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87171"/>
                </a:solidFill>
              </a:defRPr>
            </a:pPr>
            <a:r>
              <a:t>EVIDENCIA DE RENDIMIENTOS DECRECIENTES</a:t>
            </a:r>
          </a:p>
          <a:p>
            <a:pPr>
              <a:spcBef>
                <a:spcPts val="600"/>
              </a:spcBef>
              <a:defRPr sz="1100" b="1">
                <a:solidFill>
                  <a:srgbClr val="F8FAFC"/>
                </a:solidFill>
              </a:defRPr>
            </a:pPr>
            <a:r>
              <a:t>📊 A 900 usuarios:</a:t>
            </a:r>
            <a:r>
              <a:rPr b="0">
                <a:solidFill>
                  <a:srgbClr val="CBD5E1"/>
                </a:solidFill>
              </a:rPr>
              <a:t>
   U(900) = $18,600.00  (Crecimiento rentable)</a:t>
            </a:r>
          </a:p>
          <a:p>
            <a:pPr>
              <a:spcBef>
                <a:spcPts val="600"/>
              </a:spcBef>
              <a:defRPr sz="1100" b="1">
                <a:solidFill>
                  <a:srgbClr val="F8FAFC"/>
                </a:solidFill>
              </a:defRPr>
            </a:pPr>
            <a:r>
              <a:t>📊 A 1,050 usuarios (ÓPTIMO):</a:t>
            </a:r>
            <a:r>
              <a:rPr b="1">
                <a:solidFill>
                  <a:srgbClr val="FBBF24"/>
                </a:solidFill>
              </a:rPr>
              <a:t>
   U(1050) = $19,050.00  (CÉNIT MÁXIMO)</a:t>
            </a:r>
          </a:p>
          <a:p>
            <a:pPr>
              <a:spcBef>
                <a:spcPts val="600"/>
              </a:spcBef>
              <a:defRPr sz="1100" b="1">
                <a:solidFill>
                  <a:srgbClr val="F8FAFC"/>
                </a:solidFill>
              </a:defRPr>
            </a:pPr>
            <a:r>
              <a:t>📊 A 1,500 usuarios (LÍMITE FÍSICO):</a:t>
            </a:r>
            <a:r>
              <a:rPr b="0">
                <a:solidFill>
                  <a:srgbClr val="F87171"/>
                </a:solidFill>
              </a:rPr>
              <a:t>
   U(1500) = $15,000.00  (CAÍDA DE -$4,050.00)</a:t>
            </a:r>
          </a:p>
          <a:p>
            <a:pPr>
              <a:spcBef>
                <a:spcPts val="800"/>
              </a:spcBef>
              <a:defRPr sz="1000" b="1">
                <a:solidFill>
                  <a:srgbClr val="FBBF24"/>
                </a:solidFill>
              </a:defRPr>
            </a:pPr>
            <a:r>
              <a:t>⚠️ Conclusión Clave: Operar al 100% de la capacidad física (1,500 usuarios) genera $4,050 MENOS de ganancia que operar al punto óptimo matemático (1,050 usuarios).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5. VISUALIZACIÓN DEL MODELO</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Curvas de Ingreso, Costo y Utilidad Operativa</a:t>
            </a:r>
          </a:p>
        </p:txBody>
      </p:sp>
      <p:pic>
        <p:nvPicPr>
          <p:cNvPr id="5" name="Picture 4" descr="grafico_caso_base.png"/>
          <p:cNvPicPr>
            <a:picLocks noChangeAspect="1"/>
          </p:cNvPicPr>
          <p:nvPr/>
        </p:nvPicPr>
        <p:blipFill>
          <a:blip r:embed="rId3"/>
          <a:stretch>
            <a:fillRect/>
          </a:stretch>
        </p:blipFill>
        <p:spPr>
          <a:xfrm>
            <a:off x="731520" y="1371600"/>
            <a:ext cx="6583680" cy="4937760"/>
          </a:xfrm>
          <a:prstGeom prst="rect">
            <a:avLst/>
          </a:prstGeom>
        </p:spPr>
      </p:pic>
      <p:sp>
        <p:nvSpPr>
          <p:cNvPr id="6" name="Rounded Rectangle 5"/>
          <p:cNvSpPr/>
          <p:nvPr/>
        </p:nvSpPr>
        <p:spPr>
          <a:xfrm>
            <a:off x="7589520" y="1371600"/>
            <a:ext cx="384048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38BDF8"/>
                </a:solidFill>
              </a:defRPr>
            </a:pPr>
            <a:r>
              <a:t>LECTURA DEL GRÁFICO</a:t>
            </a:r>
          </a:p>
          <a:p>
            <a:pPr>
              <a:spcBef>
                <a:spcPts val="600"/>
              </a:spcBef>
              <a:defRPr sz="1000" b="1">
                <a:solidFill>
                  <a:srgbClr val="F8FAFC"/>
                </a:solidFill>
              </a:defRPr>
            </a:pPr>
            <a:r>
              <a:t>• Curva de Ingreso (Celeste):</a:t>
            </a:r>
            <a:r>
              <a:rPr b="0">
                <a:solidFill>
                  <a:srgbClr val="CBD5E1"/>
                </a:solidFill>
              </a:rPr>
              <a:t> R(x) = 50x crece con pendiente lineal constante de $50/usuario.</a:t>
            </a:r>
          </a:p>
          <a:p>
            <a:pPr>
              <a:spcBef>
                <a:spcPts val="600"/>
              </a:spcBef>
              <a:defRPr sz="1000" b="1">
                <a:solidFill>
                  <a:srgbClr val="F8FAFC"/>
                </a:solidFill>
              </a:defRPr>
            </a:pPr>
            <a:r>
              <a:t>• Curva de Costo (Roja):</a:t>
            </a:r>
            <a:r>
              <a:rPr b="0">
                <a:solidFill>
                  <a:srgbClr val="CBD5E1"/>
                </a:solidFill>
              </a:rPr>
              <a:t> C(x) se acelera exponencialmente a la derecha por el término cuadrático 0.02x².</a:t>
            </a:r>
          </a:p>
          <a:p>
            <a:pPr>
              <a:spcBef>
                <a:spcPts val="600"/>
              </a:spcBef>
              <a:defRPr sz="1000" b="1">
                <a:solidFill>
                  <a:srgbClr val="F8FAFC"/>
                </a:solidFill>
              </a:defRPr>
            </a:pPr>
            <a:r>
              <a:t>• Curva de Utilidad (Verde):</a:t>
            </a:r>
            <a:r>
              <a:rPr b="0">
                <a:solidFill>
                  <a:srgbClr val="CBD5E1"/>
                </a:solidFill>
              </a:rPr>
              <a:t> Parábola cóncava hacia abajo con vértice exacto en (1050, $19,050).</a:t>
            </a:r>
          </a:p>
          <a:p>
            <a:pPr>
              <a:spcBef>
                <a:spcPts val="600"/>
              </a:spcBef>
              <a:defRPr sz="1000" b="1">
                <a:solidFill>
                  <a:srgbClr val="F8FAFC"/>
                </a:solidFill>
              </a:defRPr>
            </a:pPr>
            <a:r>
              <a:t>• Zona de Pérdidas (&lt; 75):</a:t>
            </a:r>
            <a:r>
              <a:rPr b="0">
                <a:solidFill>
                  <a:srgbClr val="CBD5E1"/>
                </a:solidFill>
              </a:rPr>
              <a:t> Costos fijos iniciales de $3,000 superan los ingresos hasta los 75 usuarios.</a:t>
            </a:r>
          </a:p>
          <a:p>
            <a:pPr>
              <a:spcBef>
                <a:spcPts val="600"/>
              </a:spcBef>
              <a:defRPr sz="1000" b="1">
                <a:solidFill>
                  <a:srgbClr val="F8FAFC"/>
                </a:solidFill>
              </a:defRPr>
            </a:pPr>
            <a:r>
              <a:t>• Zona de Rendimientos Negativos (&gt; 1050):</a:t>
            </a:r>
            <a:r>
              <a:rPr b="0">
                <a:solidFill>
                  <a:srgbClr val="CBD5E1"/>
                </a:solidFill>
              </a:rPr>
              <a:t> Cada usuario adicional cuesta más de $50, reduciendo la ganancia neta hasta $15,000 en el límite físico de 1,500.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4. CARACTERIZACIÓN COMPARATIVA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Evaluación de Tres Escalas de Infraestructura</a:t>
            </a:r>
          </a:p>
        </p:txBody>
      </p:sp>
      <p:pic>
        <p:nvPicPr>
          <p:cNvPr id="5" name="Picture 4" descr="grafico_comparativa.png"/>
          <p:cNvPicPr>
            <a:picLocks noChangeAspect="1"/>
          </p:cNvPicPr>
          <p:nvPr/>
        </p:nvPicPr>
        <p:blipFill>
          <a:blip r:embed="rId3"/>
          <a:stretch>
            <a:fillRect/>
          </a:stretch>
        </p:blipFill>
        <p:spPr>
          <a:xfrm>
            <a:off x="731520" y="1371600"/>
            <a:ext cx="6217920" cy="4937760"/>
          </a:xfrm>
          <a:prstGeom prst="rect">
            <a:avLst/>
          </a:prstGeom>
        </p:spPr>
      </p:pic>
      <p:sp>
        <p:nvSpPr>
          <p:cNvPr id="6" name="Rounded Rectangle 5"/>
          <p:cNvSpPr/>
          <p:nvPr/>
        </p:nvSpPr>
        <p:spPr>
          <a:xfrm>
            <a:off x="7223760" y="1371600"/>
            <a:ext cx="420624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BBF24"/>
                </a:solidFill>
              </a:defRPr>
            </a:pPr>
            <a:r>
              <a:t>RESUMEN DE LAS 3 INFRAESTRUCTURAS</a:t>
            </a:r>
          </a:p>
          <a:p>
            <a:pPr>
              <a:spcBef>
                <a:spcPts val="800"/>
              </a:spcBef>
              <a:defRPr sz="1100" b="1">
                <a:solidFill>
                  <a:srgbClr val="38BDF8"/>
                </a:solidFill>
              </a:defRPr>
            </a:pPr>
            <a:r>
              <a:t>INFRAESTRUCTURA BÁSICA</a:t>
            </a:r>
          </a:p>
          <a:p>
            <a:pPr>
              <a:spcBef>
                <a:spcPts val="100"/>
              </a:spcBef>
              <a:defRPr sz="950">
                <a:solidFill>
                  <a:srgbClr val="CBD5E1"/>
                </a:solidFill>
              </a:defRPr>
            </a:pPr>
            <a:r>
              <a:t>  • Fijos: $1,000 | Lineal: $10 | k: 0.100</a:t>
            </a:r>
          </a:p>
          <a:p>
            <a:pPr>
              <a:spcBef>
                <a:spcPts val="100"/>
              </a:spcBef>
              <a:defRPr sz="950">
                <a:solidFill>
                  <a:srgbClr val="CBD5E1"/>
                </a:solidFill>
              </a:defRPr>
            </a:pPr>
            <a:r>
              <a:t>  • Capacidad: 500 usuarios</a:t>
            </a:r>
          </a:p>
          <a:p>
            <a:pPr>
              <a:spcBef>
                <a:spcPts val="100"/>
              </a:spcBef>
              <a:defRPr sz="950">
                <a:solidFill>
                  <a:srgbClr val="CBD5E1"/>
                </a:solidFill>
              </a:defRPr>
            </a:pPr>
            <a:r>
              <a:t>  • Óptimo (x*): 200 usuarios</a:t>
            </a:r>
          </a:p>
          <a:p>
            <a:pPr>
              <a:spcBef>
                <a:spcPts val="100"/>
              </a:spcBef>
              <a:defRPr sz="950">
                <a:solidFill>
                  <a:srgbClr val="CBD5E1"/>
                </a:solidFill>
              </a:defRPr>
            </a:pPr>
            <a:r>
              <a:t>  • Utilidad Máx: $3,000.00</a:t>
            </a:r>
          </a:p>
          <a:p>
            <a:pPr>
              <a:spcBef>
                <a:spcPts val="800"/>
              </a:spcBef>
              <a:defRPr sz="1100" b="1">
                <a:solidFill>
                  <a:srgbClr val="34D399"/>
                </a:solidFill>
              </a:defRPr>
            </a:pPr>
            <a:r>
              <a:t>INFRAESTRUCTURA INTERMEDIA (BASE)</a:t>
            </a:r>
          </a:p>
          <a:p>
            <a:pPr>
              <a:spcBef>
                <a:spcPts val="100"/>
              </a:spcBef>
              <a:defRPr sz="950">
                <a:solidFill>
                  <a:srgbClr val="CBD5E1"/>
                </a:solidFill>
              </a:defRPr>
            </a:pPr>
            <a:r>
              <a:t>  • Fijos: $3,000 | Lineal: $8 | k: 0.020</a:t>
            </a:r>
          </a:p>
          <a:p>
            <a:pPr>
              <a:spcBef>
                <a:spcPts val="100"/>
              </a:spcBef>
              <a:defRPr sz="950">
                <a:solidFill>
                  <a:srgbClr val="CBD5E1"/>
                </a:solidFill>
              </a:defRPr>
            </a:pPr>
            <a:r>
              <a:t>  • Capacidad: 1,500 usuarios</a:t>
            </a:r>
          </a:p>
          <a:p>
            <a:pPr>
              <a:spcBef>
                <a:spcPts val="100"/>
              </a:spcBef>
              <a:defRPr sz="950">
                <a:solidFill>
                  <a:srgbClr val="CBD5E1"/>
                </a:solidFill>
              </a:defRPr>
            </a:pPr>
            <a:r>
              <a:t>  • Óptimo (x*): 1,050 usuarios</a:t>
            </a:r>
          </a:p>
          <a:p>
            <a:pPr>
              <a:spcBef>
                <a:spcPts val="100"/>
              </a:spcBef>
              <a:defRPr sz="950">
                <a:solidFill>
                  <a:srgbClr val="CBD5E1"/>
                </a:solidFill>
              </a:defRPr>
            </a:pPr>
            <a:r>
              <a:t>  • Utilidad Máx: $19,050.00</a:t>
            </a:r>
          </a:p>
          <a:p>
            <a:pPr>
              <a:spcBef>
                <a:spcPts val="800"/>
              </a:spcBef>
              <a:defRPr sz="1100" b="1">
                <a:solidFill>
                  <a:srgbClr val="FBBF24"/>
                </a:solidFill>
              </a:defRPr>
            </a:pPr>
            <a:r>
              <a:t>INFRAESTRUCTURA AMPLIADA</a:t>
            </a:r>
          </a:p>
          <a:p>
            <a:pPr>
              <a:spcBef>
                <a:spcPts val="100"/>
              </a:spcBef>
              <a:defRPr sz="950">
                <a:solidFill>
                  <a:srgbClr val="CBD5E1"/>
                </a:solidFill>
              </a:defRPr>
            </a:pPr>
            <a:r>
              <a:t>  • Fijos: $15,000 | Lineal: $5 | k: 0.002</a:t>
            </a:r>
          </a:p>
          <a:p>
            <a:pPr>
              <a:spcBef>
                <a:spcPts val="100"/>
              </a:spcBef>
              <a:defRPr sz="950">
                <a:solidFill>
                  <a:srgbClr val="CBD5E1"/>
                </a:solidFill>
              </a:defRPr>
            </a:pPr>
            <a:r>
              <a:t>  • Capacidad: 15,000 usuarios</a:t>
            </a:r>
          </a:p>
          <a:p>
            <a:pPr>
              <a:spcBef>
                <a:spcPts val="100"/>
              </a:spcBef>
              <a:defRPr sz="950">
                <a:solidFill>
                  <a:srgbClr val="CBD5E1"/>
                </a:solidFill>
              </a:defRPr>
            </a:pPr>
            <a:r>
              <a:t>  • Óptimo (x*): 11,250 usuarios</a:t>
            </a:r>
          </a:p>
          <a:p>
            <a:pPr>
              <a:spcBef>
                <a:spcPts val="100"/>
              </a:spcBef>
              <a:defRPr sz="950">
                <a:solidFill>
                  <a:srgbClr val="CBD5E1"/>
                </a:solidFill>
              </a:defRPr>
            </a:pPr>
            <a:r>
              <a:t>  • Utilidad Máx: $231,250.00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6. ARQUITECTURA DE SOFTWARE</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Implementación Tecnológica y Herramienta Interactiva</a:t>
            </a:r>
          </a:p>
        </p:txBody>
      </p:sp>
      <p:sp>
        <p:nvSpPr>
          <p:cNvPr id="5" name="Rounded Rectangle 4"/>
          <p:cNvSpPr/>
          <p:nvPr/>
        </p:nvSpPr>
        <p:spPr>
          <a:xfrm>
            <a:off x="731520" y="1463040"/>
            <a:ext cx="2468880" cy="48463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8BDF8"/>
                </a:solidFill>
              </a:defRPr>
            </a:pPr>
            <a:r>
              <a:t>LENGUAJE CORE</a:t>
            </a:r>
          </a:p>
          <a:p>
            <a:pPr>
              <a:spcBef>
                <a:spcPts val="400"/>
              </a:spcBef>
              <a:defRPr sz="1500" b="1">
                <a:solidFill>
                  <a:srgbClr val="F8FAFC"/>
                </a:solidFill>
              </a:defRPr>
            </a:pPr>
            <a:r>
              <a:t>Python 3.10+</a:t>
            </a:r>
          </a:p>
          <a:p>
            <a:pPr>
              <a:spcBef>
                <a:spcPts val="800"/>
              </a:spcBef>
              <a:defRPr sz="1050">
                <a:solidFill>
                  <a:srgbClr val="CBD5E1"/>
                </a:solidFill>
              </a:defRPr>
            </a:pPr>
            <a:r>
              <a:t>• Base del motor de cómputo.</a:t>
            </a:r>
          </a:p>
          <a:p>
            <a:pPr>
              <a:spcBef>
                <a:spcPts val="800"/>
              </a:spcBef>
              <a:defRPr sz="1050">
                <a:solidFill>
                  <a:srgbClr val="CBD5E1"/>
                </a:solidFill>
              </a:defRPr>
            </a:pPr>
            <a:r>
              <a:t>• Integración modular de bibliotecas científicas.</a:t>
            </a:r>
          </a:p>
          <a:p>
            <a:pPr>
              <a:spcBef>
                <a:spcPts val="800"/>
              </a:spcBef>
              <a:defRPr sz="1050">
                <a:solidFill>
                  <a:srgbClr val="CBD5E1"/>
                </a:solidFill>
              </a:defRPr>
            </a:pPr>
            <a:r>
              <a:t>• Gestión limpia de tipos de datos y manejo de excepciones.</a:t>
            </a:r>
          </a:p>
        </p:txBody>
      </p:sp>
      <p:sp>
        <p:nvSpPr>
          <p:cNvPr id="6" name="Rounded Rectangle 5"/>
          <p:cNvSpPr/>
          <p:nvPr/>
        </p:nvSpPr>
        <p:spPr>
          <a:xfrm>
            <a:off x="3429000" y="1463040"/>
            <a:ext cx="2468880" cy="48463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4D399"/>
                </a:solidFill>
              </a:defRPr>
            </a:pPr>
            <a:r>
              <a:t>CÁLCULO SIMBÓLICO</a:t>
            </a:r>
          </a:p>
          <a:p>
            <a:pPr>
              <a:spcBef>
                <a:spcPts val="400"/>
              </a:spcBef>
              <a:defRPr sz="1500" b="1">
                <a:solidFill>
                  <a:srgbClr val="F8FAFC"/>
                </a:solidFill>
              </a:defRPr>
            </a:pPr>
            <a:r>
              <a:t>SymPy</a:t>
            </a:r>
          </a:p>
          <a:p>
            <a:pPr>
              <a:spcBef>
                <a:spcPts val="800"/>
              </a:spcBef>
              <a:defRPr sz="1050">
                <a:solidFill>
                  <a:srgbClr val="CBD5E1"/>
                </a:solidFill>
              </a:defRPr>
            </a:pPr>
            <a:r>
              <a:t>• Deducción analítica formal.</a:t>
            </a:r>
          </a:p>
          <a:p>
            <a:pPr>
              <a:spcBef>
                <a:spcPts val="800"/>
              </a:spcBef>
              <a:defRPr sz="1050">
                <a:solidFill>
                  <a:srgbClr val="CBD5E1"/>
                </a:solidFill>
              </a:defRPr>
            </a:pPr>
            <a:r>
              <a:t>• Cálculo exacto de derivadas de primer y segundo orden.</a:t>
            </a:r>
          </a:p>
          <a:p>
            <a:pPr>
              <a:spcBef>
                <a:spcPts val="800"/>
              </a:spcBef>
              <a:defRPr sz="1050">
                <a:solidFill>
                  <a:srgbClr val="CBD5E1"/>
                </a:solidFill>
              </a:defRPr>
            </a:pPr>
            <a:r>
              <a:t>• Resolución algebraica de puntos críticos y raíces.</a:t>
            </a:r>
          </a:p>
        </p:txBody>
      </p:sp>
      <p:sp>
        <p:nvSpPr>
          <p:cNvPr id="7" name="Rounded Rectangle 6"/>
          <p:cNvSpPr/>
          <p:nvPr/>
        </p:nvSpPr>
        <p:spPr>
          <a:xfrm>
            <a:off x="6126480" y="1463040"/>
            <a:ext cx="2468880" cy="484632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BBF24"/>
                </a:solidFill>
              </a:defRPr>
            </a:pPr>
            <a:r>
              <a:t>MODELADO NUMÉRICO</a:t>
            </a:r>
          </a:p>
          <a:p>
            <a:pPr>
              <a:spcBef>
                <a:spcPts val="400"/>
              </a:spcBef>
              <a:defRPr sz="1500" b="1">
                <a:solidFill>
                  <a:srgbClr val="F8FAFC"/>
                </a:solidFill>
              </a:defRPr>
            </a:pPr>
            <a:r>
              <a:t>NumPy &amp; Matplotlib</a:t>
            </a:r>
          </a:p>
          <a:p>
            <a:pPr>
              <a:spcBef>
                <a:spcPts val="800"/>
              </a:spcBef>
              <a:defRPr sz="1050">
                <a:solidFill>
                  <a:srgbClr val="CBD5E1"/>
                </a:solidFill>
              </a:defRPr>
            </a:pPr>
            <a:r>
              <a:t>• Vectorización y discretización continua de dominios.</a:t>
            </a:r>
          </a:p>
          <a:p>
            <a:pPr>
              <a:spcBef>
                <a:spcPts val="800"/>
              </a:spcBef>
              <a:defRPr sz="1050">
                <a:solidFill>
                  <a:srgbClr val="CBD5E1"/>
                </a:solidFill>
              </a:defRPr>
            </a:pPr>
            <a:r>
              <a:t>• Generación dinámica de gráficas financieras de alta resolución.</a:t>
            </a:r>
          </a:p>
          <a:p>
            <a:pPr>
              <a:spcBef>
                <a:spcPts val="800"/>
              </a:spcBef>
              <a:defRPr sz="1050">
                <a:solidFill>
                  <a:srgbClr val="CBD5E1"/>
                </a:solidFill>
              </a:defRPr>
            </a:pPr>
            <a:r>
              <a:t>• Renderizado en tiempo real de curvas de utilidad.</a:t>
            </a:r>
          </a:p>
        </p:txBody>
      </p:sp>
      <p:sp>
        <p:nvSpPr>
          <p:cNvPr id="8" name="Rounded Rectangle 7"/>
          <p:cNvSpPr/>
          <p:nvPr/>
        </p:nvSpPr>
        <p:spPr>
          <a:xfrm>
            <a:off x="8823960" y="1463040"/>
            <a:ext cx="2468880" cy="4846320"/>
          </a:xfrm>
          <a:prstGeom prst="roundRect">
            <a:avLst/>
          </a:prstGeom>
          <a:solidFill>
            <a:srgbClr val="1E293B"/>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818CF8"/>
                </a:solidFill>
              </a:defRPr>
            </a:pPr>
            <a:r>
              <a:t>INTERFAZ Y DESPLIEGUE</a:t>
            </a:r>
          </a:p>
          <a:p>
            <a:pPr>
              <a:spcBef>
                <a:spcPts val="400"/>
              </a:spcBef>
              <a:defRPr sz="1500" b="1">
                <a:solidFill>
                  <a:srgbClr val="F8FAFC"/>
                </a:solidFill>
              </a:defRPr>
            </a:pPr>
            <a:r>
              <a:t>Tkinter &amp; PyInstaller</a:t>
            </a:r>
          </a:p>
          <a:p>
            <a:pPr>
              <a:spcBef>
                <a:spcPts val="800"/>
              </a:spcBef>
              <a:defRPr sz="1050">
                <a:solidFill>
                  <a:srgbClr val="CBD5E1"/>
                </a:solidFill>
              </a:defRPr>
            </a:pPr>
            <a:r>
              <a:t>• GUI interactiva para analistas FinOps y gerentes.</a:t>
            </a:r>
          </a:p>
          <a:p>
            <a:pPr>
              <a:spcBef>
                <a:spcPts val="800"/>
              </a:spcBef>
              <a:defRPr sz="1050">
                <a:solidFill>
                  <a:srgbClr val="CBD5E1"/>
                </a:solidFill>
              </a:defRPr>
            </a:pPr>
            <a:r>
              <a:t>• Permite variar F, c, k, p interactivamente con sliders.</a:t>
            </a:r>
          </a:p>
          <a:p>
            <a:pPr>
              <a:spcBef>
                <a:spcPts val="800"/>
              </a:spcBef>
              <a:defRPr sz="1050">
                <a:solidFill>
                  <a:srgbClr val="CBD5E1"/>
                </a:solidFill>
              </a:defRPr>
            </a:pPr>
            <a:r>
              <a:t>• Compilado en binario independiente portátil: 'proyecto2.exe'.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7. CONCLUSIONES Y RECOMENDACIONES</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Respuesta Directa a las Preguntas de Decisión</a:t>
            </a:r>
          </a:p>
        </p:txBody>
      </p:sp>
      <p:sp>
        <p:nvSpPr>
          <p:cNvPr id="5" name="Rounded Rectangle 4"/>
          <p:cNvSpPr/>
          <p:nvPr/>
        </p:nvSpPr>
        <p:spPr>
          <a:xfrm>
            <a:off x="731520" y="1463040"/>
            <a:ext cx="5212080" cy="48463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4D399"/>
                </a:solidFill>
              </a:defRPr>
            </a:pPr>
            <a:r>
              <a:t>RESPUESTA 1: CAPACIDAD QUE MAXIMIZA LA UTILIDAD</a:t>
            </a:r>
          </a:p>
          <a:p>
            <a:pPr>
              <a:spcBef>
                <a:spcPts val="600"/>
              </a:spcBef>
              <a:defRPr sz="2000" b="1">
                <a:solidFill>
                  <a:srgbClr val="F8FAFC"/>
                </a:solidFill>
              </a:defRPr>
            </a:pPr>
            <a:r>
              <a:t>x* = 1,050 usuarios simultáneos</a:t>
            </a:r>
          </a:p>
          <a:p>
            <a:pPr>
              <a:spcBef>
                <a:spcPts val="800"/>
              </a:spcBef>
              <a:defRPr sz="1100" b="1">
                <a:solidFill>
                  <a:srgbClr val="F8FAFC"/>
                </a:solidFill>
              </a:defRPr>
            </a:pPr>
            <a:r>
              <a:t>• Utilidad Neta Máxima:</a:t>
            </a:r>
            <a:r>
              <a:rPr b="0">
                <a:solidFill>
                  <a:srgbClr val="CBD5E1"/>
                </a:solidFill>
              </a:rPr>
              <a:t>  Se alcanza un beneficio de USD $19,050.00 mensuales.</a:t>
            </a:r>
          </a:p>
          <a:p>
            <a:pPr>
              <a:spcBef>
                <a:spcPts val="800"/>
              </a:spcBef>
              <a:defRPr sz="1100" b="1">
                <a:solidFill>
                  <a:srgbClr val="F8FAFC"/>
                </a:solidFill>
              </a:defRPr>
            </a:pPr>
            <a:r>
              <a:t>• Margen Óptimo de Seguridad:</a:t>
            </a:r>
            <a:r>
              <a:rPr b="0">
                <a:solidFill>
                  <a:srgbClr val="CBD5E1"/>
                </a:solidFill>
              </a:rPr>
              <a:t>  Operar a 1,050 usuarios deja un margen de 450 usuarios antes del colapso físico (1,500).</a:t>
            </a:r>
          </a:p>
          <a:p>
            <a:pPr>
              <a:spcBef>
                <a:spcPts val="800"/>
              </a:spcBef>
              <a:defRPr sz="1100" b="1">
                <a:solidFill>
                  <a:srgbClr val="F8FAFC"/>
                </a:solidFill>
              </a:defRPr>
            </a:pPr>
            <a:r>
              <a:t>• Peligro del 100% de Capacidad:</a:t>
            </a:r>
            <a:r>
              <a:rPr b="0">
                <a:solidFill>
                  <a:srgbClr val="CBD5E1"/>
                </a:solidFill>
              </a:rPr>
              <a:t>  Operar a 1,500 usuarios reduce la ganancia a $15,000 (-21.3%) debido a la degradación de rendimiento y contención.</a:t>
            </a:r>
          </a:p>
          <a:p>
            <a:pPr>
              <a:spcBef>
                <a:spcPts val="800"/>
              </a:spcBef>
              <a:defRPr sz="1100" b="1">
                <a:solidFill>
                  <a:srgbClr val="F8FAFC"/>
                </a:solidFill>
              </a:defRPr>
            </a:pPr>
            <a:r>
              <a:t>• Criterio de Eficiencia:</a:t>
            </a:r>
            <a:r>
              <a:rPr b="0">
                <a:solidFill>
                  <a:srgbClr val="CBD5E1"/>
                </a:solidFill>
              </a:rPr>
              <a:t>  El negocio debe calibrar sus campañas de marketing y admisión de tráfico para apuntar a este volumen óptimo.</a:t>
            </a:r>
          </a:p>
        </p:txBody>
      </p:sp>
      <p:sp>
        <p:nvSpPr>
          <p:cNvPr id="6" name="Rounded Rectangle 5"/>
          <p:cNvSpPr/>
          <p:nvPr/>
        </p:nvSpPr>
        <p:spPr>
          <a:xfrm>
            <a:off x="6217920" y="1463040"/>
            <a:ext cx="5212080" cy="484632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BBF24"/>
                </a:solidFill>
              </a:defRPr>
            </a:pPr>
            <a:r>
              <a:t>RESPUESTA 2: POLÍTICA DE ESCALAMIENTO CLOUD</a:t>
            </a:r>
          </a:p>
          <a:p>
            <a:pPr>
              <a:spcBef>
                <a:spcPts val="600"/>
              </a:spcBef>
              <a:defRPr sz="2000" b="1">
                <a:solidFill>
                  <a:srgbClr val="F8FAFC"/>
                </a:solidFill>
              </a:defRPr>
            </a:pPr>
            <a:r>
              <a:t>Migrar a Infraestructura Ampliada</a:t>
            </a:r>
          </a:p>
          <a:p>
            <a:pPr>
              <a:spcBef>
                <a:spcPts val="800"/>
              </a:spcBef>
              <a:defRPr sz="1100" b="1">
                <a:solidFill>
                  <a:srgbClr val="F8FAFC"/>
                </a:solidFill>
              </a:defRPr>
            </a:pPr>
            <a:r>
              <a:t>• Criterio Físico Límite (1,500 usuarios):</a:t>
            </a:r>
            <a:r>
              <a:rPr b="0">
                <a:solidFill>
                  <a:srgbClr val="CBD5E1"/>
                </a:solidFill>
              </a:rPr>
              <a:t>  Si la demanda proyectada supera los 1,500 usuarios, la migración es obligatoria para evitar una caída del servicio.</a:t>
            </a:r>
          </a:p>
          <a:p>
            <a:pPr>
              <a:spcBef>
                <a:spcPts val="800"/>
              </a:spcBef>
              <a:defRPr sz="1100" b="1">
                <a:solidFill>
                  <a:srgbClr val="F8FAFC"/>
                </a:solidFill>
              </a:defRPr>
            </a:pPr>
            <a:r>
              <a:t>• Criterio Económico FinOps (900 - 1,050 usuarios):</a:t>
            </a:r>
            <a:r>
              <a:rPr b="0">
                <a:solidFill>
                  <a:srgbClr val="CBD5E1"/>
                </a:solidFill>
              </a:rPr>
              <a:t>  Se recomienda iniciar la transición hacia la escala 'Ampliada' a partir de los 900 usuarios sostenidos, ya que la curva de la infraestructura ampliada comienza a ser más rentable y eficiente.</a:t>
            </a:r>
          </a:p>
          <a:p>
            <a:pPr>
              <a:spcBef>
                <a:spcPts val="800"/>
              </a:spcBef>
              <a:defRPr sz="1100" b="1">
                <a:solidFill>
                  <a:srgbClr val="F8FAFC"/>
                </a:solidFill>
              </a:defRPr>
            </a:pPr>
            <a:r>
              <a:t>• Economías de Escala:</a:t>
            </a:r>
            <a:r>
              <a:rPr b="0">
                <a:solidFill>
                  <a:srgbClr val="CBD5E1"/>
                </a:solidFill>
              </a:rPr>
              <a:t>  Al pasar al plan Ampliado, el costo variable baja a $5 y k se reduce a 0.002, multiplicando la utilidad potencial hasta $231,250.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38BDF8"/>
                </a:solidFill>
                <a:latin typeface="Segoe UI"/>
              </a:defRPr>
            </a:pPr>
            <a:r>
              <a:t>8. REFERENCIAS BIBLIOGRÁFICAS</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latin typeface="Segoe UI"/>
              </a:defRPr>
            </a:pPr>
            <a:r>
              <a:t>Fundamentación Académica y Espacio de Preguntas</a:t>
            </a:r>
          </a:p>
        </p:txBody>
      </p:sp>
      <p:sp>
        <p:nvSpPr>
          <p:cNvPr id="5" name="Rounded Rectangle 4"/>
          <p:cNvSpPr/>
          <p:nvPr/>
        </p:nvSpPr>
        <p:spPr>
          <a:xfrm>
            <a:off x="731520" y="1463040"/>
            <a:ext cx="6217920" cy="48463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38BDF8"/>
                </a:solidFill>
              </a:defRPr>
            </a:pPr>
            <a:r>
              <a:t>REFERENCIAS BIBLIOGRÁFICAS (FORMATO APA)</a:t>
            </a:r>
          </a:p>
          <a:p>
            <a:pPr>
              <a:spcBef>
                <a:spcPts val="1000"/>
              </a:spcBef>
              <a:defRPr sz="1050">
                <a:solidFill>
                  <a:srgbClr val="CBD5E1"/>
                </a:solidFill>
              </a:defRPr>
            </a:pPr>
            <a:r>
              <a:t>• Armbrust, M., Fox, A., Griffith, R., Joseph, A. D., Katz, R., Konwinski, A., Lee, G., Patterson, D., Rabkin, A., Stoica, I., &amp; Zaharia, M. (2010). A view of cloud computing. Communications of the ACM, 53(4), 50–58.</a:t>
            </a:r>
          </a:p>
          <a:p>
            <a:pPr>
              <a:spcBef>
                <a:spcPts val="1000"/>
              </a:spcBef>
              <a:defRPr sz="1050">
                <a:solidFill>
                  <a:srgbClr val="CBD5E1"/>
                </a:solidFill>
              </a:defRPr>
            </a:pPr>
            <a:r>
              <a:t>• Larson, R., &amp; Edwards, B. H. (2018). Cálculo de una variable (11.ª ed.). Cengage Learning.</a:t>
            </a:r>
          </a:p>
          <a:p>
            <a:pPr>
              <a:spcBef>
                <a:spcPts val="1000"/>
              </a:spcBef>
              <a:defRPr sz="1050">
                <a:solidFill>
                  <a:srgbClr val="CBD5E1"/>
                </a:solidFill>
              </a:defRPr>
            </a:pPr>
            <a:r>
              <a:t>• Pindyck, R. S., &amp; Rubinfeld, D. L. (2018). Microeconomía (9.ª ed.). Pearson Educación.</a:t>
            </a:r>
          </a:p>
          <a:p>
            <a:pPr>
              <a:spcBef>
                <a:spcPts val="1000"/>
              </a:spcBef>
              <a:defRPr sz="1050">
                <a:solidFill>
                  <a:srgbClr val="CBD5E1"/>
                </a:solidFill>
              </a:defRPr>
            </a:pPr>
            <a:r>
              <a:t>• Stewart, J. (2018). Cálculo: Trascendentes tempranas (8.ª ed.). Cengage Learning.</a:t>
            </a:r>
          </a:p>
        </p:txBody>
      </p:sp>
      <p:sp>
        <p:nvSpPr>
          <p:cNvPr id="6" name="Rounded Rectangle 5"/>
          <p:cNvSpPr/>
          <p:nvPr/>
        </p:nvSpPr>
        <p:spPr>
          <a:xfrm>
            <a:off x="7315200" y="1463040"/>
            <a:ext cx="4114800" cy="48463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34D399"/>
                </a:solidFill>
              </a:defRPr>
            </a:pPr>
            <a:r>
              <a:t>SESIÓN DE PREGUNTAS</a:t>
            </a:r>
          </a:p>
          <a:p>
            <a:pPr>
              <a:spcBef>
                <a:spcPts val="2000"/>
              </a:spcBef>
              <a:defRPr sz="2800" b="1">
                <a:solidFill>
                  <a:srgbClr val="F8FAFC"/>
                </a:solidFill>
              </a:defRPr>
            </a:pPr>
            <a:r>
              <a:t>¡Muchas Gracias!</a:t>
            </a:r>
          </a:p>
          <a:p>
            <a:pPr>
              <a:spcBef>
                <a:spcPts val="1400"/>
              </a:spcBef>
              <a:defRPr sz="1300">
                <a:solidFill>
                  <a:srgbClr val="FBBF24"/>
                </a:solidFill>
              </a:defRPr>
            </a:pPr>
            <a:r>
              <a:t>Universidad de Costa Rica</a:t>
            </a:r>
            <a:br/>
            <a:r>
              <a:t>Sede Regional del Sur</a:t>
            </a:r>
            <a:br/>
            <a:r>
              <a:t>MA-0321 Cálculo</a:t>
            </a:r>
          </a:p>
          <a:p>
            <a:pPr>
              <a:spcBef>
                <a:spcPts val="1400"/>
              </a:spcBef>
              <a:defRPr sz="1100">
                <a:solidFill>
                  <a:srgbClr val="94A3B8"/>
                </a:solidFill>
              </a:defRPr>
            </a:pPr>
            <a:r>
              <a:t>Isaac Vega (C38346)</a:t>
            </a:r>
            <a:br/>
            <a:r>
              <a:t>Junior</a:t>
            </a:r>
            <a:br/>
            <a:r>
              <a:t>Docente: Francisco</a:t>
            </a:r>
            <a:br/>
            <a:r>
              <a:t>25 de Septiembre del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3315</Words>
  <Application>Microsoft Office PowerPoint</Application>
  <PresentationFormat>Panorámica</PresentationFormat>
  <Paragraphs>197</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ISAAC ALEXANDER VEGA OROZCO</cp:lastModifiedBy>
  <cp:revision>2</cp:revision>
  <dcterms:created xsi:type="dcterms:W3CDTF">2013-01-27T09:14:16Z</dcterms:created>
  <dcterms:modified xsi:type="dcterms:W3CDTF">2026-09-24T06:39:48Z</dcterms:modified>
  <cp:category/>
</cp:coreProperties>
</file>